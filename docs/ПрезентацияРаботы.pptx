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83" r:id="rId2"/>
    <p:sldId id="282" r:id="rId3"/>
    <p:sldId id="295" r:id="rId4"/>
    <p:sldId id="285" r:id="rId5"/>
    <p:sldId id="286" r:id="rId6"/>
    <p:sldId id="293" r:id="rId7"/>
    <p:sldId id="288" r:id="rId8"/>
    <p:sldId id="299" r:id="rId9"/>
    <p:sldId id="296" r:id="rId10"/>
    <p:sldId id="298" r:id="rId11"/>
    <p:sldId id="297" r:id="rId12"/>
    <p:sldId id="289" r:id="rId13"/>
    <p:sldId id="290" r:id="rId14"/>
  </p:sldIdLst>
  <p:sldSz cx="12192000" cy="6858000"/>
  <p:notesSz cx="12192000" cy="6858000"/>
  <p:embeddedFontLst>
    <p:embeddedFont>
      <p:font typeface="Montserrat" panose="00000500000000000000" pitchFamily="2" charset="-52"/>
      <p:regular r:id="rId16"/>
      <p:bold r:id="rId17"/>
      <p:italic r:id="rId18"/>
      <p:boldItalic r:id="rId19"/>
    </p:embeddedFont>
    <p:embeddedFont>
      <p:font typeface="Montserrat SemiBold" panose="00000700000000000000" pitchFamily="2" charset="-52"/>
      <p:bold r:id="rId20"/>
      <p:boldItalic r:id="rId21"/>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32B3"/>
    <a:srgbClr val="FEFFFE"/>
    <a:srgbClr val="F2F3FB"/>
    <a:srgbClr val="F3EEFE"/>
    <a:srgbClr val="240E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97" autoAdjust="0"/>
  </p:normalViewPr>
  <p:slideViewPr>
    <p:cSldViewPr snapToGrid="0" showGuides="1">
      <p:cViewPr varScale="1">
        <p:scale>
          <a:sx n="105" d="100"/>
          <a:sy n="105" d="100"/>
        </p:scale>
        <p:origin x="798" y="138"/>
      </p:cViewPr>
      <p:guideLst>
        <p:guide orient="horz" pos="4088"/>
        <p:guide pos="3863"/>
        <p:guide orient="horz" pos="1253"/>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3204D75-D1DA-4652-8983-E7A3C4068067}" type="datetimeFigureOut">
              <a:rPr lang="ru-RU" smtClean="0"/>
              <a:t>05.06.2026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52B2CB2-FEFC-427F-B1C5-5CFD0D71CC0E}" type="slidenum">
              <a:rPr lang="ru-RU" smtClean="0"/>
              <a:t>‹#›</a:t>
            </a:fld>
            <a:endParaRPr lang="ru-RU"/>
          </a:p>
        </p:txBody>
      </p:sp>
    </p:spTree>
    <p:extLst>
      <p:ext uri="{BB962C8B-B14F-4D97-AF65-F5344CB8AC3E}">
        <p14:creationId xmlns:p14="http://schemas.microsoft.com/office/powerpoint/2010/main" val="2439031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52B2CB2-FEFC-427F-B1C5-5CFD0D71CC0E}" type="slidenum">
              <a:rPr lang="ru-RU" smtClean="0"/>
              <a:t>4</a:t>
            </a:fld>
            <a:endParaRPr lang="ru-RU"/>
          </a:p>
        </p:txBody>
      </p:sp>
    </p:spTree>
    <p:extLst>
      <p:ext uri="{BB962C8B-B14F-4D97-AF65-F5344CB8AC3E}">
        <p14:creationId xmlns:p14="http://schemas.microsoft.com/office/powerpoint/2010/main" val="651721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52B2CB2-FEFC-427F-B1C5-5CFD0D71CC0E}" type="slidenum">
              <a:rPr lang="ru-RU" smtClean="0"/>
              <a:t>6</a:t>
            </a:fld>
            <a:endParaRPr lang="ru-RU"/>
          </a:p>
        </p:txBody>
      </p:sp>
    </p:spTree>
    <p:extLst>
      <p:ext uri="{BB962C8B-B14F-4D97-AF65-F5344CB8AC3E}">
        <p14:creationId xmlns:p14="http://schemas.microsoft.com/office/powerpoint/2010/main" val="2888131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52B2CB2-FEFC-427F-B1C5-5CFD0D71CC0E}" type="slidenum">
              <a:rPr lang="ru-RU" smtClean="0"/>
              <a:t>12</a:t>
            </a:fld>
            <a:endParaRPr lang="ru-RU"/>
          </a:p>
        </p:txBody>
      </p:sp>
    </p:spTree>
    <p:extLst>
      <p:ext uri="{BB962C8B-B14F-4D97-AF65-F5344CB8AC3E}">
        <p14:creationId xmlns:p14="http://schemas.microsoft.com/office/powerpoint/2010/main" val="28750043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05.06.2026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8.png"/><Relationship Id="rId11" Type="http://schemas.openxmlformats.org/officeDocument/2006/relationships/image" Target="../media/image22.png"/><Relationship Id="rId5" Type="http://schemas.openxmlformats.org/officeDocument/2006/relationships/image" Target="../media/image12.png"/><Relationship Id="rId10" Type="http://schemas.openxmlformats.org/officeDocument/2006/relationships/image" Target="../media/image21.png"/><Relationship Id="rId4" Type="http://schemas.openxmlformats.org/officeDocument/2006/relationships/image" Target="../media/image11.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0.xml"/><Relationship Id="rId5" Type="http://schemas.openxmlformats.org/officeDocument/2006/relationships/image" Target="../media/image36.jpg"/><Relationship Id="rId4" Type="http://schemas.openxmlformats.org/officeDocument/2006/relationships/image" Target="../media/image35.jp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0.xml"/><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BF3863-E350-38EB-D32E-B8C4F18DF8A2}"/>
              </a:ext>
            </a:extLst>
          </p:cNvPr>
          <p:cNvSpPr>
            <a:spLocks noGrp="1"/>
          </p:cNvSpPr>
          <p:nvPr>
            <p:ph type="title"/>
          </p:nvPr>
        </p:nvSpPr>
        <p:spPr>
          <a:xfrm>
            <a:off x="479423" y="919953"/>
            <a:ext cx="11229975" cy="1140459"/>
          </a:xfrm>
        </p:spPr>
        <p:txBody>
          <a:bodyPr/>
          <a:lstStyle/>
          <a:p>
            <a:r>
              <a:rPr lang="ru-RU" dirty="0"/>
              <a:t>Цель выпускной работы</a:t>
            </a:r>
          </a:p>
        </p:txBody>
      </p:sp>
      <p:sp>
        <p:nvSpPr>
          <p:cNvPr id="3" name="Текст 2">
            <a:extLst>
              <a:ext uri="{FF2B5EF4-FFF2-40B4-BE49-F238E27FC236}">
                <a16:creationId xmlns:a16="http://schemas.microsoft.com/office/drawing/2014/main" id="{803800D2-CCBD-3095-8CF1-8992C8CE062F}"/>
              </a:ext>
            </a:extLst>
          </p:cNvPr>
          <p:cNvSpPr>
            <a:spLocks noGrp="1"/>
          </p:cNvSpPr>
          <p:nvPr>
            <p:ph type="body" sz="quarter" idx="19"/>
          </p:nvPr>
        </p:nvSpPr>
        <p:spPr/>
        <p:txBody>
          <a:bodyPr/>
          <a:lstStyle/>
          <a:p>
            <a:endParaRPr lang="ru-RU" dirty="0"/>
          </a:p>
        </p:txBody>
      </p:sp>
      <p:sp>
        <p:nvSpPr>
          <p:cNvPr id="4" name="Заголовок 1">
            <a:extLst>
              <a:ext uri="{FF2B5EF4-FFF2-40B4-BE49-F238E27FC236}">
                <a16:creationId xmlns:a16="http://schemas.microsoft.com/office/drawing/2014/main" id="{3CDC899A-4EDF-BDDC-C05D-4B843C0A4717}"/>
              </a:ext>
            </a:extLst>
          </p:cNvPr>
          <p:cNvSpPr txBox="1">
            <a:spLocks/>
          </p:cNvSpPr>
          <p:nvPr/>
        </p:nvSpPr>
        <p:spPr bwMode="auto">
          <a:xfrm>
            <a:off x="479423" y="2746089"/>
            <a:ext cx="11229975" cy="1140459"/>
          </a:xfrm>
          <a:prstGeom prst="rect">
            <a:avLst/>
          </a:prstGeom>
        </p:spPr>
        <p:txBody>
          <a:bodyPr vert="horz" lIns="91440" tIns="45720" rIns="91440" bIns="45720" rtlCol="0" anchor="t">
            <a:noAutofit/>
          </a:bodyPr>
          <a:lstStyle>
            <a:lvl1pPr algn="l" defTabSz="914400">
              <a:lnSpc>
                <a:spcPct val="100000"/>
              </a:lnSpc>
              <a:spcBef>
                <a:spcPts val="0"/>
              </a:spcBef>
              <a:buNone/>
              <a:defRPr lang="ru-RU" sz="3200" b="0">
                <a:solidFill>
                  <a:schemeClr val="tx1"/>
                </a:solidFill>
                <a:latin typeface="+mj-lt"/>
                <a:ea typeface="+mj-ea"/>
                <a:cs typeface="+mj-cs"/>
              </a:defRPr>
            </a:lvl1pPr>
          </a:lstStyle>
          <a:p>
            <a:r>
              <a:rPr lang="ru-RU" dirty="0"/>
              <a:t>Задачи</a:t>
            </a:r>
          </a:p>
        </p:txBody>
      </p:sp>
      <p:sp>
        <p:nvSpPr>
          <p:cNvPr id="10" name="TextBox 9">
            <a:extLst>
              <a:ext uri="{FF2B5EF4-FFF2-40B4-BE49-F238E27FC236}">
                <a16:creationId xmlns:a16="http://schemas.microsoft.com/office/drawing/2014/main" id="{74D4354F-229D-3816-1F1C-08D0FC2CC5F7}"/>
              </a:ext>
            </a:extLst>
          </p:cNvPr>
          <p:cNvSpPr txBox="1"/>
          <p:nvPr/>
        </p:nvSpPr>
        <p:spPr bwMode="auto">
          <a:xfrm>
            <a:off x="479424" y="1538539"/>
            <a:ext cx="6094378" cy="923330"/>
          </a:xfrm>
          <a:prstGeom prst="rect">
            <a:avLst/>
          </a:prstGeom>
          <a:noFill/>
        </p:spPr>
        <p:txBody>
          <a:bodyPr wrap="square">
            <a:spAutoFit/>
          </a:bodyPr>
          <a:lstStyle/>
          <a:p>
            <a:r>
              <a:rPr lang="ru-RU" dirty="0"/>
              <a:t>Проектирование и разработка прикладного решения для планирования занятости кабинетов на платформе «1С:Предприятие 8.3», </a:t>
            </a:r>
          </a:p>
        </p:txBody>
      </p:sp>
      <p:sp>
        <p:nvSpPr>
          <p:cNvPr id="28" name="TextBox 27">
            <a:extLst>
              <a:ext uri="{FF2B5EF4-FFF2-40B4-BE49-F238E27FC236}">
                <a16:creationId xmlns:a16="http://schemas.microsoft.com/office/drawing/2014/main" id="{6CBE1012-42AC-8F7C-97A1-D68F83ED0A07}"/>
              </a:ext>
            </a:extLst>
          </p:cNvPr>
          <p:cNvSpPr txBox="1"/>
          <p:nvPr/>
        </p:nvSpPr>
        <p:spPr bwMode="auto">
          <a:xfrm>
            <a:off x="368858" y="3316318"/>
            <a:ext cx="11061142" cy="1754326"/>
          </a:xfrm>
          <a:prstGeom prst="rect">
            <a:avLst/>
          </a:prstGeom>
          <a:noFill/>
        </p:spPr>
        <p:txBody>
          <a:bodyPr wrap="square">
            <a:spAutoFit/>
          </a:bodyPr>
          <a:lstStyle/>
          <a:p>
            <a:pPr marL="285750" lvl="0" indent="-285750">
              <a:buFont typeface="Arial" panose="020B0604020202020204" pitchFamily="34" charset="0"/>
              <a:buChar char="•"/>
            </a:pPr>
            <a:r>
              <a:rPr lang="ru-RU" dirty="0"/>
              <a:t>Проанализировать предметную область, а также рассмотреть существующие решения</a:t>
            </a:r>
          </a:p>
          <a:p>
            <a:pPr marL="285750" lvl="0" indent="-285750">
              <a:buFont typeface="Arial" panose="020B0604020202020204" pitchFamily="34" charset="0"/>
              <a:buChar char="•"/>
            </a:pPr>
            <a:r>
              <a:rPr lang="ru-RU" dirty="0"/>
              <a:t>Сформулировать требования к разрабатываемой системе, а также обосновать выбор платформ разработки</a:t>
            </a:r>
          </a:p>
          <a:p>
            <a:pPr marL="285750" lvl="0" indent="-285750">
              <a:buFont typeface="Arial" panose="020B0604020202020204" pitchFamily="34" charset="0"/>
              <a:buChar char="•"/>
            </a:pPr>
            <a:r>
              <a:rPr lang="ru-RU" dirty="0"/>
              <a:t>Спроектировать прикладное решение, требуемые процедуры и функции</a:t>
            </a:r>
          </a:p>
          <a:p>
            <a:pPr marL="285750" lvl="0" indent="-285750">
              <a:buFont typeface="Arial" panose="020B0604020202020204" pitchFamily="34" charset="0"/>
              <a:buChar char="•"/>
            </a:pPr>
            <a:r>
              <a:rPr lang="ru-RU" dirty="0"/>
              <a:t>Реализовать обмен данными между базой и мобильным приложением, провести тестирование и оценку полученных результатов</a:t>
            </a:r>
          </a:p>
        </p:txBody>
      </p:sp>
      <p:pic>
        <p:nvPicPr>
          <p:cNvPr id="29" name="Рисунок 28">
            <a:extLst>
              <a:ext uri="{FF2B5EF4-FFF2-40B4-BE49-F238E27FC236}">
                <a16:creationId xmlns:a16="http://schemas.microsoft.com/office/drawing/2014/main" id="{6512300C-67A4-E975-8EEE-7360CAC0EC7D}"/>
              </a:ext>
            </a:extLst>
          </p:cNvPr>
          <p:cNvPicPr>
            <a:picLocks noChangeAspect="1"/>
          </p:cNvPicPr>
          <p:nvPr/>
        </p:nvPicPr>
        <p:blipFill>
          <a:blip r:embed="rId2"/>
          <a:stretch/>
        </p:blipFill>
        <p:spPr bwMode="auto">
          <a:xfrm>
            <a:off x="6352671" y="729027"/>
            <a:ext cx="5577858" cy="4341617"/>
          </a:xfrm>
          <a:prstGeom prst="rect">
            <a:avLst/>
          </a:prstGeom>
        </p:spPr>
      </p:pic>
      <p:pic>
        <p:nvPicPr>
          <p:cNvPr id="7" name="Рисунок 6">
            <a:extLst>
              <a:ext uri="{FF2B5EF4-FFF2-40B4-BE49-F238E27FC236}">
                <a16:creationId xmlns:a16="http://schemas.microsoft.com/office/drawing/2014/main" id="{6DA5558B-580E-1FA5-F7B9-3837DD7A3634}"/>
              </a:ext>
            </a:extLst>
          </p:cNvPr>
          <p:cNvPicPr>
            <a:picLocks noChangeAspect="1"/>
          </p:cNvPicPr>
          <p:nvPr/>
        </p:nvPicPr>
        <p:blipFill>
          <a:blip r:embed="rId3"/>
          <a:stretch>
            <a:fillRect/>
          </a:stretch>
        </p:blipFill>
        <p:spPr>
          <a:xfrm>
            <a:off x="1" y="-19115"/>
            <a:ext cx="12192000" cy="552527"/>
          </a:xfrm>
          <a:prstGeom prst="rect">
            <a:avLst/>
          </a:prstGeom>
        </p:spPr>
      </p:pic>
      <p:sp>
        <p:nvSpPr>
          <p:cNvPr id="15" name="Прямоугольник 14">
            <a:extLst>
              <a:ext uri="{FF2B5EF4-FFF2-40B4-BE49-F238E27FC236}">
                <a16:creationId xmlns:a16="http://schemas.microsoft.com/office/drawing/2014/main" id="{F4D696ED-CF68-7CF9-7544-8562B56F7F21}"/>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8A096326-03B8-855C-82DF-B6F26568805B}"/>
              </a:ext>
            </a:extLst>
          </p:cNvPr>
          <p:cNvPicPr>
            <a:picLocks noChangeAspect="1"/>
          </p:cNvPicPr>
          <p:nvPr/>
        </p:nvPicPr>
        <p:blipFill>
          <a:blip r:embed="rId4">
            <a:extLst>
              <a:ext uri="{28A0092B-C50C-407E-A947-70E740481C1C}">
                <a14:useLocalDpi xmlns:a14="http://schemas.microsoft.com/office/drawing/2010/main" val="0"/>
              </a:ext>
            </a:extLst>
          </a:blip>
          <a:srcRect t="-25725" b="25725"/>
          <a:stretch>
            <a:fillRect/>
          </a:stretch>
        </p:blipFill>
        <p:spPr>
          <a:xfrm>
            <a:off x="9525" y="-808960"/>
            <a:ext cx="12182475" cy="6858000"/>
          </a:xfrm>
          <a:prstGeom prst="rect">
            <a:avLst/>
          </a:prstGeom>
        </p:spPr>
      </p:pic>
      <p:sp>
        <p:nvSpPr>
          <p:cNvPr id="16" name="TextBox 15">
            <a:extLst>
              <a:ext uri="{FF2B5EF4-FFF2-40B4-BE49-F238E27FC236}">
                <a16:creationId xmlns:a16="http://schemas.microsoft.com/office/drawing/2014/main" id="{137AB326-49D9-0098-979B-F6972431B73B}"/>
              </a:ext>
            </a:extLst>
          </p:cNvPr>
          <p:cNvSpPr txBox="1"/>
          <p:nvPr/>
        </p:nvSpPr>
        <p:spPr bwMode="auto">
          <a:xfrm>
            <a:off x="11684000" y="6391475"/>
            <a:ext cx="508000" cy="369332"/>
          </a:xfrm>
          <a:prstGeom prst="rect">
            <a:avLst/>
          </a:prstGeom>
        </p:spPr>
        <p:txBody>
          <a:bodyPr wrap="square" rtlCol="0">
            <a:spAutoFit/>
          </a:bodyPr>
          <a:lstStyle/>
          <a:p>
            <a:r>
              <a:rPr lang="ru-RU" dirty="0"/>
              <a:t>2</a:t>
            </a:r>
          </a:p>
        </p:txBody>
      </p:sp>
    </p:spTree>
    <p:extLst>
      <p:ext uri="{BB962C8B-B14F-4D97-AF65-F5344CB8AC3E}">
        <p14:creationId xmlns:p14="http://schemas.microsoft.com/office/powerpoint/2010/main" val="3517651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Прямоугольник: скругленные углы 49">
            <a:extLst>
              <a:ext uri="{FF2B5EF4-FFF2-40B4-BE49-F238E27FC236}">
                <a16:creationId xmlns:a16="http://schemas.microsoft.com/office/drawing/2014/main" id="{941FCCA5-2632-8530-A3A6-1830F80B567F}"/>
              </a:ext>
            </a:extLst>
          </p:cNvPr>
          <p:cNvSpPr/>
          <p:nvPr/>
        </p:nvSpPr>
        <p:spPr>
          <a:xfrm>
            <a:off x="6007261" y="5249334"/>
            <a:ext cx="4947347" cy="1052406"/>
          </a:xfrm>
          <a:prstGeom prst="roundRect">
            <a:avLst/>
          </a:prstGeom>
          <a:solidFill>
            <a:schemeClr val="bg1"/>
          </a:solid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Прямоугольник: скругленные углы 48">
            <a:extLst>
              <a:ext uri="{FF2B5EF4-FFF2-40B4-BE49-F238E27FC236}">
                <a16:creationId xmlns:a16="http://schemas.microsoft.com/office/drawing/2014/main" id="{5C2EECCF-436B-0E24-2735-EF1662771078}"/>
              </a:ext>
            </a:extLst>
          </p:cNvPr>
          <p:cNvSpPr/>
          <p:nvPr/>
        </p:nvSpPr>
        <p:spPr>
          <a:xfrm>
            <a:off x="6007261" y="4179561"/>
            <a:ext cx="4947347" cy="899847"/>
          </a:xfrm>
          <a:prstGeom prst="roundRect">
            <a:avLst/>
          </a:prstGeom>
          <a:solidFill>
            <a:schemeClr val="bg1"/>
          </a:solid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Прямоугольник: скругленные углы 47">
            <a:extLst>
              <a:ext uri="{FF2B5EF4-FFF2-40B4-BE49-F238E27FC236}">
                <a16:creationId xmlns:a16="http://schemas.microsoft.com/office/drawing/2014/main" id="{9214A8D8-8795-87D9-9656-5180DAA6F1FE}"/>
              </a:ext>
            </a:extLst>
          </p:cNvPr>
          <p:cNvSpPr/>
          <p:nvPr/>
        </p:nvSpPr>
        <p:spPr>
          <a:xfrm>
            <a:off x="6007261" y="3109788"/>
            <a:ext cx="4947347" cy="899847"/>
          </a:xfrm>
          <a:prstGeom prst="roundRect">
            <a:avLst/>
          </a:prstGeom>
          <a:solidFill>
            <a:schemeClr val="bg1"/>
          </a:solid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рямоугольник: скругленные углы 46">
            <a:extLst>
              <a:ext uri="{FF2B5EF4-FFF2-40B4-BE49-F238E27FC236}">
                <a16:creationId xmlns:a16="http://schemas.microsoft.com/office/drawing/2014/main" id="{C69C7EA2-6366-2B36-3D10-E9963E07AC15}"/>
              </a:ext>
            </a:extLst>
          </p:cNvPr>
          <p:cNvSpPr/>
          <p:nvPr/>
        </p:nvSpPr>
        <p:spPr>
          <a:xfrm>
            <a:off x="6007261" y="2038046"/>
            <a:ext cx="4947347" cy="899847"/>
          </a:xfrm>
          <a:prstGeom prst="roundRect">
            <a:avLst/>
          </a:prstGeom>
          <a:solidFill>
            <a:schemeClr val="bg1"/>
          </a:solid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Текст 3">
            <a:extLst>
              <a:ext uri="{FF2B5EF4-FFF2-40B4-BE49-F238E27FC236}">
                <a16:creationId xmlns:a16="http://schemas.microsoft.com/office/drawing/2014/main" id="{4D3CB7E3-8219-19B6-94CF-14BB715A93B9}"/>
              </a:ext>
            </a:extLst>
          </p:cNvPr>
          <p:cNvSpPr>
            <a:spLocks noGrp="1"/>
          </p:cNvSpPr>
          <p:nvPr>
            <p:ph type="body" sz="quarter" idx="19"/>
          </p:nvPr>
        </p:nvSpPr>
        <p:spPr/>
        <p:txBody>
          <a:bodyPr/>
          <a:lstStyle/>
          <a:p>
            <a:endParaRPr lang="ru-RU"/>
          </a:p>
        </p:txBody>
      </p:sp>
      <p:sp>
        <p:nvSpPr>
          <p:cNvPr id="17" name="TextBox 16">
            <a:extLst>
              <a:ext uri="{FF2B5EF4-FFF2-40B4-BE49-F238E27FC236}">
                <a16:creationId xmlns:a16="http://schemas.microsoft.com/office/drawing/2014/main" id="{DEDA155A-938E-6AC3-61B2-011FE70ED4E5}"/>
              </a:ext>
            </a:extLst>
          </p:cNvPr>
          <p:cNvSpPr txBox="1"/>
          <p:nvPr/>
        </p:nvSpPr>
        <p:spPr bwMode="auto">
          <a:xfrm>
            <a:off x="11684000" y="6391475"/>
            <a:ext cx="508000" cy="369332"/>
          </a:xfrm>
          <a:prstGeom prst="rect">
            <a:avLst/>
          </a:prstGeom>
        </p:spPr>
        <p:txBody>
          <a:bodyPr wrap="square" rtlCol="0">
            <a:spAutoFit/>
          </a:bodyPr>
          <a:lstStyle/>
          <a:p>
            <a:r>
              <a:rPr lang="ru-RU" dirty="0"/>
              <a:t>3</a:t>
            </a:r>
          </a:p>
        </p:txBody>
      </p:sp>
      <p:sp>
        <p:nvSpPr>
          <p:cNvPr id="23" name="Прямоугольник: скругленные углы 22">
            <a:extLst>
              <a:ext uri="{FF2B5EF4-FFF2-40B4-BE49-F238E27FC236}">
                <a16:creationId xmlns:a16="http://schemas.microsoft.com/office/drawing/2014/main" id="{5EDCC6DE-0510-3213-3D6F-1B3E3B5E12B8}"/>
              </a:ext>
            </a:extLst>
          </p:cNvPr>
          <p:cNvSpPr/>
          <p:nvPr/>
        </p:nvSpPr>
        <p:spPr>
          <a:xfrm>
            <a:off x="6007261" y="966304"/>
            <a:ext cx="4947347" cy="899847"/>
          </a:xfrm>
          <a:prstGeom prst="roundRect">
            <a:avLst/>
          </a:prstGeom>
          <a:solidFill>
            <a:schemeClr val="bg1"/>
          </a:solid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TextBox 37">
            <a:extLst>
              <a:ext uri="{FF2B5EF4-FFF2-40B4-BE49-F238E27FC236}">
                <a16:creationId xmlns:a16="http://schemas.microsoft.com/office/drawing/2014/main" id="{C9338EF8-8424-9B08-DB4A-DCD762A9FDC5}"/>
              </a:ext>
            </a:extLst>
          </p:cNvPr>
          <p:cNvSpPr txBox="1"/>
          <p:nvPr/>
        </p:nvSpPr>
        <p:spPr bwMode="auto">
          <a:xfrm>
            <a:off x="7301924" y="1065906"/>
            <a:ext cx="3652685" cy="646331"/>
          </a:xfrm>
          <a:prstGeom prst="rect">
            <a:avLst/>
          </a:prstGeom>
          <a:noFill/>
        </p:spPr>
        <p:txBody>
          <a:bodyPr wrap="square">
            <a:spAutoFit/>
          </a:bodyPr>
          <a:lstStyle/>
          <a:p>
            <a:r>
              <a:rPr lang="ru-RU" dirty="0"/>
              <a:t>Нет единого источника актуальной информации</a:t>
            </a:r>
          </a:p>
        </p:txBody>
      </p:sp>
      <p:sp>
        <p:nvSpPr>
          <p:cNvPr id="40" name="TextBox 39">
            <a:extLst>
              <a:ext uri="{FF2B5EF4-FFF2-40B4-BE49-F238E27FC236}">
                <a16:creationId xmlns:a16="http://schemas.microsoft.com/office/drawing/2014/main" id="{4A09970D-9160-78A5-EA5D-9CCB3D94E9C3}"/>
              </a:ext>
            </a:extLst>
          </p:cNvPr>
          <p:cNvSpPr txBox="1"/>
          <p:nvPr/>
        </p:nvSpPr>
        <p:spPr bwMode="auto">
          <a:xfrm>
            <a:off x="7194262" y="2154802"/>
            <a:ext cx="4730873" cy="646331"/>
          </a:xfrm>
          <a:prstGeom prst="rect">
            <a:avLst/>
          </a:prstGeom>
          <a:noFill/>
        </p:spPr>
        <p:txBody>
          <a:bodyPr wrap="square">
            <a:spAutoFit/>
          </a:bodyPr>
          <a:lstStyle/>
          <a:p>
            <a:r>
              <a:rPr lang="ru-RU" dirty="0"/>
              <a:t>Возникают накладки при использовании кабинетов</a:t>
            </a:r>
          </a:p>
        </p:txBody>
      </p:sp>
      <p:sp>
        <p:nvSpPr>
          <p:cNvPr id="42" name="TextBox 41">
            <a:extLst>
              <a:ext uri="{FF2B5EF4-FFF2-40B4-BE49-F238E27FC236}">
                <a16:creationId xmlns:a16="http://schemas.microsoft.com/office/drawing/2014/main" id="{F1E11CB5-8C00-CDFE-35F3-5AD182F7043C}"/>
              </a:ext>
            </a:extLst>
          </p:cNvPr>
          <p:cNvSpPr txBox="1"/>
          <p:nvPr/>
        </p:nvSpPr>
        <p:spPr bwMode="auto">
          <a:xfrm>
            <a:off x="7194262" y="3192497"/>
            <a:ext cx="3957320" cy="646331"/>
          </a:xfrm>
          <a:prstGeom prst="rect">
            <a:avLst/>
          </a:prstGeom>
          <a:noFill/>
        </p:spPr>
        <p:txBody>
          <a:bodyPr wrap="square">
            <a:spAutoFit/>
          </a:bodyPr>
          <a:lstStyle/>
          <a:p>
            <a:r>
              <a:rPr lang="ru-RU" dirty="0"/>
              <a:t>Статическое расписание не отражает реальную ситуацию</a:t>
            </a:r>
          </a:p>
        </p:txBody>
      </p:sp>
      <p:sp>
        <p:nvSpPr>
          <p:cNvPr id="44" name="TextBox 43">
            <a:extLst>
              <a:ext uri="{FF2B5EF4-FFF2-40B4-BE49-F238E27FC236}">
                <a16:creationId xmlns:a16="http://schemas.microsoft.com/office/drawing/2014/main" id="{3B8C7E21-607E-E585-50F2-BEE4DB27BE44}"/>
              </a:ext>
            </a:extLst>
          </p:cNvPr>
          <p:cNvSpPr txBox="1"/>
          <p:nvPr/>
        </p:nvSpPr>
        <p:spPr bwMode="auto">
          <a:xfrm>
            <a:off x="7194262" y="4306318"/>
            <a:ext cx="3660140" cy="646331"/>
          </a:xfrm>
          <a:prstGeom prst="rect">
            <a:avLst/>
          </a:prstGeom>
          <a:noFill/>
        </p:spPr>
        <p:txBody>
          <a:bodyPr wrap="square">
            <a:spAutoFit/>
          </a:bodyPr>
          <a:lstStyle/>
          <a:p>
            <a:r>
              <a:rPr lang="ru-RU" dirty="0"/>
              <a:t>Сложно оперативно найти свободное помещение</a:t>
            </a:r>
          </a:p>
        </p:txBody>
      </p:sp>
      <p:sp>
        <p:nvSpPr>
          <p:cNvPr id="46" name="TextBox 45">
            <a:extLst>
              <a:ext uri="{FF2B5EF4-FFF2-40B4-BE49-F238E27FC236}">
                <a16:creationId xmlns:a16="http://schemas.microsoft.com/office/drawing/2014/main" id="{127CEE63-75EA-142B-ED22-17D97D37BE37}"/>
              </a:ext>
            </a:extLst>
          </p:cNvPr>
          <p:cNvSpPr txBox="1"/>
          <p:nvPr/>
        </p:nvSpPr>
        <p:spPr bwMode="auto">
          <a:xfrm>
            <a:off x="7301924" y="5313872"/>
            <a:ext cx="3882266" cy="923330"/>
          </a:xfrm>
          <a:prstGeom prst="rect">
            <a:avLst/>
          </a:prstGeom>
          <a:noFill/>
        </p:spPr>
        <p:txBody>
          <a:bodyPr wrap="square">
            <a:spAutoFit/>
          </a:bodyPr>
          <a:lstStyle/>
          <a:p>
            <a:r>
              <a:rPr lang="ru-RU" dirty="0"/>
              <a:t>Готовые решения не учитывают специфику кафедры</a:t>
            </a:r>
          </a:p>
        </p:txBody>
      </p:sp>
      <p:sp>
        <p:nvSpPr>
          <p:cNvPr id="56" name="Прямоугольник: скругленные углы 55">
            <a:extLst>
              <a:ext uri="{FF2B5EF4-FFF2-40B4-BE49-F238E27FC236}">
                <a16:creationId xmlns:a16="http://schemas.microsoft.com/office/drawing/2014/main" id="{2EE2C189-98A6-6D30-580A-2CDDA37EBE19}"/>
              </a:ext>
            </a:extLst>
          </p:cNvPr>
          <p:cNvSpPr/>
          <p:nvPr/>
        </p:nvSpPr>
        <p:spPr>
          <a:xfrm>
            <a:off x="6187224" y="3201429"/>
            <a:ext cx="769836" cy="716563"/>
          </a:xfrm>
          <a:prstGeom prst="roundRect">
            <a:avLst/>
          </a:prstGeom>
          <a:solidFill>
            <a:srgbClr val="F3E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5" name="Рисунок 54">
            <a:extLst>
              <a:ext uri="{FF2B5EF4-FFF2-40B4-BE49-F238E27FC236}">
                <a16:creationId xmlns:a16="http://schemas.microsoft.com/office/drawing/2014/main" id="{9465AC1F-1787-6B7C-6A10-CE8D6F759080}"/>
              </a:ext>
            </a:extLst>
          </p:cNvPr>
          <p:cNvPicPr>
            <a:picLocks noChangeAspect="1"/>
          </p:cNvPicPr>
          <p:nvPr/>
        </p:nvPicPr>
        <p:blipFill>
          <a:blip r:embed="rId2"/>
          <a:stretch/>
        </p:blipFill>
        <p:spPr bwMode="auto">
          <a:xfrm>
            <a:off x="6371601" y="3273961"/>
            <a:ext cx="419100" cy="571500"/>
          </a:xfrm>
          <a:prstGeom prst="rect">
            <a:avLst/>
          </a:prstGeom>
        </p:spPr>
      </p:pic>
      <p:sp>
        <p:nvSpPr>
          <p:cNvPr id="58" name="Прямоугольник: скругленные углы 57">
            <a:extLst>
              <a:ext uri="{FF2B5EF4-FFF2-40B4-BE49-F238E27FC236}">
                <a16:creationId xmlns:a16="http://schemas.microsoft.com/office/drawing/2014/main" id="{045CAC76-CA64-49BC-090F-2818313BC331}"/>
              </a:ext>
            </a:extLst>
          </p:cNvPr>
          <p:cNvSpPr/>
          <p:nvPr/>
        </p:nvSpPr>
        <p:spPr>
          <a:xfrm>
            <a:off x="6207175" y="5417255"/>
            <a:ext cx="769836" cy="716563"/>
          </a:xfrm>
          <a:prstGeom prst="roundRect">
            <a:avLst/>
          </a:prstGeom>
          <a:solidFill>
            <a:srgbClr val="F3E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7" name="Рисунок 56">
            <a:extLst>
              <a:ext uri="{FF2B5EF4-FFF2-40B4-BE49-F238E27FC236}">
                <a16:creationId xmlns:a16="http://schemas.microsoft.com/office/drawing/2014/main" id="{D1E8B25E-7429-01F9-65D9-46567BED2DDD}"/>
              </a:ext>
            </a:extLst>
          </p:cNvPr>
          <p:cNvPicPr>
            <a:picLocks noChangeAspect="1"/>
          </p:cNvPicPr>
          <p:nvPr/>
        </p:nvPicPr>
        <p:blipFill>
          <a:blip r:embed="rId3"/>
          <a:stretch/>
        </p:blipFill>
        <p:spPr bwMode="auto">
          <a:xfrm>
            <a:off x="6301580" y="5489786"/>
            <a:ext cx="581025" cy="571500"/>
          </a:xfrm>
          <a:prstGeom prst="rect">
            <a:avLst/>
          </a:prstGeom>
        </p:spPr>
      </p:pic>
      <p:sp>
        <p:nvSpPr>
          <p:cNvPr id="59" name="Прямоугольник: скругленные углы 58">
            <a:extLst>
              <a:ext uri="{FF2B5EF4-FFF2-40B4-BE49-F238E27FC236}">
                <a16:creationId xmlns:a16="http://schemas.microsoft.com/office/drawing/2014/main" id="{90EE2979-5BE9-251E-DC62-CC71C224219C}"/>
              </a:ext>
            </a:extLst>
          </p:cNvPr>
          <p:cNvSpPr/>
          <p:nvPr/>
        </p:nvSpPr>
        <p:spPr>
          <a:xfrm>
            <a:off x="6187224" y="4271201"/>
            <a:ext cx="769836" cy="716563"/>
          </a:xfrm>
          <a:prstGeom prst="roundRect">
            <a:avLst/>
          </a:prstGeom>
          <a:solidFill>
            <a:srgbClr val="F3E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0" name="Рисунок 59">
            <a:extLst>
              <a:ext uri="{FF2B5EF4-FFF2-40B4-BE49-F238E27FC236}">
                <a16:creationId xmlns:a16="http://schemas.microsoft.com/office/drawing/2014/main" id="{04B57284-E004-4EC7-ECDB-DA810EBD4473}"/>
              </a:ext>
            </a:extLst>
          </p:cNvPr>
          <p:cNvPicPr>
            <a:picLocks noChangeAspect="1"/>
          </p:cNvPicPr>
          <p:nvPr/>
        </p:nvPicPr>
        <p:blipFill>
          <a:blip r:embed="rId4"/>
          <a:stretch/>
        </p:blipFill>
        <p:spPr bwMode="auto">
          <a:xfrm>
            <a:off x="6308197" y="4386336"/>
            <a:ext cx="527889" cy="518022"/>
          </a:xfrm>
          <a:prstGeom prst="rect">
            <a:avLst/>
          </a:prstGeom>
        </p:spPr>
      </p:pic>
      <p:sp>
        <p:nvSpPr>
          <p:cNvPr id="61" name="Прямоугольник: скругленные углы 60">
            <a:extLst>
              <a:ext uri="{FF2B5EF4-FFF2-40B4-BE49-F238E27FC236}">
                <a16:creationId xmlns:a16="http://schemas.microsoft.com/office/drawing/2014/main" id="{A652BC5E-5E23-1531-D6C2-FC872190A090}"/>
              </a:ext>
            </a:extLst>
          </p:cNvPr>
          <p:cNvSpPr/>
          <p:nvPr/>
        </p:nvSpPr>
        <p:spPr>
          <a:xfrm>
            <a:off x="6187224" y="2129687"/>
            <a:ext cx="769836" cy="716563"/>
          </a:xfrm>
          <a:prstGeom prst="roundRect">
            <a:avLst/>
          </a:prstGeom>
          <a:solidFill>
            <a:srgbClr val="F3E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2" name="Рисунок 61">
            <a:extLst>
              <a:ext uri="{FF2B5EF4-FFF2-40B4-BE49-F238E27FC236}">
                <a16:creationId xmlns:a16="http://schemas.microsoft.com/office/drawing/2014/main" id="{F518BC05-17DD-930B-E633-BEAF85079AC0}"/>
              </a:ext>
            </a:extLst>
          </p:cNvPr>
          <p:cNvPicPr>
            <a:picLocks noChangeAspect="1"/>
          </p:cNvPicPr>
          <p:nvPr/>
        </p:nvPicPr>
        <p:blipFill>
          <a:blip r:embed="rId5"/>
          <a:stretch/>
        </p:blipFill>
        <p:spPr bwMode="auto">
          <a:xfrm>
            <a:off x="6328927" y="2253872"/>
            <a:ext cx="497823" cy="468191"/>
          </a:xfrm>
          <a:prstGeom prst="rect">
            <a:avLst/>
          </a:prstGeom>
        </p:spPr>
      </p:pic>
      <p:sp>
        <p:nvSpPr>
          <p:cNvPr id="63" name="Прямоугольник: скругленные углы 62">
            <a:extLst>
              <a:ext uri="{FF2B5EF4-FFF2-40B4-BE49-F238E27FC236}">
                <a16:creationId xmlns:a16="http://schemas.microsoft.com/office/drawing/2014/main" id="{ABE2E645-FA75-E130-2462-D581FCCB1AB8}"/>
              </a:ext>
            </a:extLst>
          </p:cNvPr>
          <p:cNvSpPr/>
          <p:nvPr/>
        </p:nvSpPr>
        <p:spPr>
          <a:xfrm>
            <a:off x="6196233" y="1065906"/>
            <a:ext cx="769836" cy="716563"/>
          </a:xfrm>
          <a:prstGeom prst="roundRect">
            <a:avLst/>
          </a:prstGeom>
          <a:solidFill>
            <a:srgbClr val="F3E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49" name="Рисунок 2048">
            <a:extLst>
              <a:ext uri="{FF2B5EF4-FFF2-40B4-BE49-F238E27FC236}">
                <a16:creationId xmlns:a16="http://schemas.microsoft.com/office/drawing/2014/main" id="{6A736E0E-6FC8-5AE0-F264-F8D6288BB519}"/>
              </a:ext>
            </a:extLst>
          </p:cNvPr>
          <p:cNvPicPr>
            <a:picLocks noChangeAspect="1"/>
          </p:cNvPicPr>
          <p:nvPr/>
        </p:nvPicPr>
        <p:blipFill>
          <a:blip r:embed="rId6"/>
          <a:stretch/>
        </p:blipFill>
        <p:spPr bwMode="auto">
          <a:xfrm>
            <a:off x="6328927" y="1184423"/>
            <a:ext cx="497822" cy="505983"/>
          </a:xfrm>
          <a:prstGeom prst="rect">
            <a:avLst/>
          </a:prstGeom>
        </p:spPr>
      </p:pic>
      <p:cxnSp>
        <p:nvCxnSpPr>
          <p:cNvPr id="2051" name="Прямая соединительная линия 2050">
            <a:extLst>
              <a:ext uri="{FF2B5EF4-FFF2-40B4-BE49-F238E27FC236}">
                <a16:creationId xmlns:a16="http://schemas.microsoft.com/office/drawing/2014/main" id="{3319BD52-B66D-E074-C20E-4AD72538B854}"/>
              </a:ext>
            </a:extLst>
          </p:cNvPr>
          <p:cNvCxnSpPr>
            <a:stCxn id="23" idx="1"/>
          </p:cNvCxnSpPr>
          <p:nvPr/>
        </p:nvCxnSpPr>
        <p:spPr>
          <a:xfrm flipH="1">
            <a:off x="5338916" y="1416228"/>
            <a:ext cx="668345" cy="795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5" name="Прямая соединительная линия 2054">
            <a:extLst>
              <a:ext uri="{FF2B5EF4-FFF2-40B4-BE49-F238E27FC236}">
                <a16:creationId xmlns:a16="http://schemas.microsoft.com/office/drawing/2014/main" id="{98D04DF6-2F91-0EEA-FDBB-A385DAF602AF}"/>
              </a:ext>
            </a:extLst>
          </p:cNvPr>
          <p:cNvCxnSpPr/>
          <p:nvPr/>
        </p:nvCxnSpPr>
        <p:spPr>
          <a:xfrm>
            <a:off x="5338916" y="1416227"/>
            <a:ext cx="0" cy="435930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8" name="Прямая соединительная линия 2057">
            <a:extLst>
              <a:ext uri="{FF2B5EF4-FFF2-40B4-BE49-F238E27FC236}">
                <a16:creationId xmlns:a16="http://schemas.microsoft.com/office/drawing/2014/main" id="{7020DB6F-1551-F7D7-45FD-D8B3500343C1}"/>
              </a:ext>
            </a:extLst>
          </p:cNvPr>
          <p:cNvCxnSpPr>
            <a:stCxn id="50" idx="1"/>
          </p:cNvCxnSpPr>
          <p:nvPr/>
        </p:nvCxnSpPr>
        <p:spPr>
          <a:xfrm flipH="1" flipV="1">
            <a:off x="5338916" y="5775536"/>
            <a:ext cx="668345" cy="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0" name="Прямая соединительная линия 2059">
            <a:extLst>
              <a:ext uri="{FF2B5EF4-FFF2-40B4-BE49-F238E27FC236}">
                <a16:creationId xmlns:a16="http://schemas.microsoft.com/office/drawing/2014/main" id="{8D15B0AE-31F0-DAEC-FF81-E2A0F3FBF7BC}"/>
              </a:ext>
            </a:extLst>
          </p:cNvPr>
          <p:cNvCxnSpPr>
            <a:stCxn id="47" idx="1"/>
          </p:cNvCxnSpPr>
          <p:nvPr/>
        </p:nvCxnSpPr>
        <p:spPr>
          <a:xfrm flipH="1" flipV="1">
            <a:off x="5338916" y="2477967"/>
            <a:ext cx="668345" cy="1000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2" name="Прямая соединительная линия 2061">
            <a:extLst>
              <a:ext uri="{FF2B5EF4-FFF2-40B4-BE49-F238E27FC236}">
                <a16:creationId xmlns:a16="http://schemas.microsoft.com/office/drawing/2014/main" id="{4A745459-73A2-FAA4-2F66-6A059359872D}"/>
              </a:ext>
            </a:extLst>
          </p:cNvPr>
          <p:cNvCxnSpPr>
            <a:stCxn id="48" idx="1"/>
          </p:cNvCxnSpPr>
          <p:nvPr/>
        </p:nvCxnSpPr>
        <p:spPr>
          <a:xfrm flipH="1" flipV="1">
            <a:off x="5338916" y="3559710"/>
            <a:ext cx="668345" cy="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4" name="Прямая соединительная линия 2063">
            <a:extLst>
              <a:ext uri="{FF2B5EF4-FFF2-40B4-BE49-F238E27FC236}">
                <a16:creationId xmlns:a16="http://schemas.microsoft.com/office/drawing/2014/main" id="{1149E033-6C33-4ABC-E1BD-C213B1702743}"/>
              </a:ext>
            </a:extLst>
          </p:cNvPr>
          <p:cNvCxnSpPr>
            <a:stCxn id="49" idx="1"/>
          </p:cNvCxnSpPr>
          <p:nvPr/>
        </p:nvCxnSpPr>
        <p:spPr>
          <a:xfrm flipH="1" flipV="1">
            <a:off x="5338916" y="4629482"/>
            <a:ext cx="668345" cy="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066" name="Овал 2065">
            <a:extLst>
              <a:ext uri="{FF2B5EF4-FFF2-40B4-BE49-F238E27FC236}">
                <a16:creationId xmlns:a16="http://schemas.microsoft.com/office/drawing/2014/main" id="{D660DD9B-F593-4E47-5FB6-C473339418F1}"/>
              </a:ext>
            </a:extLst>
          </p:cNvPr>
          <p:cNvSpPr/>
          <p:nvPr/>
        </p:nvSpPr>
        <p:spPr>
          <a:xfrm>
            <a:off x="5208578" y="1294184"/>
            <a:ext cx="260673" cy="27654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67" name="Овал 2066">
            <a:extLst>
              <a:ext uri="{FF2B5EF4-FFF2-40B4-BE49-F238E27FC236}">
                <a16:creationId xmlns:a16="http://schemas.microsoft.com/office/drawing/2014/main" id="{11648E13-501F-6CD2-9C8F-53AECBCB8532}"/>
              </a:ext>
            </a:extLst>
          </p:cNvPr>
          <p:cNvSpPr/>
          <p:nvPr/>
        </p:nvSpPr>
        <p:spPr>
          <a:xfrm>
            <a:off x="5208578" y="2339694"/>
            <a:ext cx="260673" cy="27654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68" name="Овал 2067">
            <a:extLst>
              <a:ext uri="{FF2B5EF4-FFF2-40B4-BE49-F238E27FC236}">
                <a16:creationId xmlns:a16="http://schemas.microsoft.com/office/drawing/2014/main" id="{4EABD3A4-2817-9994-5B5C-2C09D3DDA8A1}"/>
              </a:ext>
            </a:extLst>
          </p:cNvPr>
          <p:cNvSpPr/>
          <p:nvPr/>
        </p:nvSpPr>
        <p:spPr>
          <a:xfrm>
            <a:off x="5208578" y="3419467"/>
            <a:ext cx="260673" cy="27654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69" name="Овал 2068">
            <a:extLst>
              <a:ext uri="{FF2B5EF4-FFF2-40B4-BE49-F238E27FC236}">
                <a16:creationId xmlns:a16="http://schemas.microsoft.com/office/drawing/2014/main" id="{2BC441F8-15FA-8DA6-1951-D52628CB0BD1}"/>
              </a:ext>
            </a:extLst>
          </p:cNvPr>
          <p:cNvSpPr/>
          <p:nvPr/>
        </p:nvSpPr>
        <p:spPr>
          <a:xfrm>
            <a:off x="5208577" y="4501210"/>
            <a:ext cx="260673" cy="27654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70" name="Овал 2069">
            <a:extLst>
              <a:ext uri="{FF2B5EF4-FFF2-40B4-BE49-F238E27FC236}">
                <a16:creationId xmlns:a16="http://schemas.microsoft.com/office/drawing/2014/main" id="{ECF8FE2B-355F-8404-E190-08505D96A5B4}"/>
              </a:ext>
            </a:extLst>
          </p:cNvPr>
          <p:cNvSpPr/>
          <p:nvPr/>
        </p:nvSpPr>
        <p:spPr>
          <a:xfrm>
            <a:off x="5208577" y="5637263"/>
            <a:ext cx="260673" cy="27654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73" name="Овал 2072">
            <a:extLst>
              <a:ext uri="{FF2B5EF4-FFF2-40B4-BE49-F238E27FC236}">
                <a16:creationId xmlns:a16="http://schemas.microsoft.com/office/drawing/2014/main" id="{CFB3EFDE-39A8-D905-66C0-F5A5F873A765}"/>
              </a:ext>
            </a:extLst>
          </p:cNvPr>
          <p:cNvSpPr/>
          <p:nvPr/>
        </p:nvSpPr>
        <p:spPr>
          <a:xfrm>
            <a:off x="1265837" y="1083086"/>
            <a:ext cx="2444841" cy="2400682"/>
          </a:xfrm>
          <a:prstGeom prst="ellipse">
            <a:avLst/>
          </a:prstGeom>
          <a:solidFill>
            <a:schemeClr val="bg1"/>
          </a:solidFill>
          <a:ln>
            <a:solidFill>
              <a:schemeClr val="tx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72" name="Рисунок 2071">
            <a:extLst>
              <a:ext uri="{FF2B5EF4-FFF2-40B4-BE49-F238E27FC236}">
                <a16:creationId xmlns:a16="http://schemas.microsoft.com/office/drawing/2014/main" id="{C7CEE638-EC86-DA0B-C23E-7B47ABF48DBE}"/>
              </a:ext>
            </a:extLst>
          </p:cNvPr>
          <p:cNvPicPr>
            <a:picLocks noChangeAspect="1"/>
          </p:cNvPicPr>
          <p:nvPr/>
        </p:nvPicPr>
        <p:blipFill>
          <a:blip r:embed="rId7"/>
          <a:stretch>
            <a:fillRect/>
          </a:stretch>
        </p:blipFill>
        <p:spPr>
          <a:xfrm>
            <a:off x="1814568" y="1390666"/>
            <a:ext cx="1307510" cy="1785522"/>
          </a:xfrm>
          <a:prstGeom prst="rect">
            <a:avLst/>
          </a:prstGeom>
        </p:spPr>
      </p:pic>
      <p:sp>
        <p:nvSpPr>
          <p:cNvPr id="2074" name="TextBox 2073">
            <a:extLst>
              <a:ext uri="{FF2B5EF4-FFF2-40B4-BE49-F238E27FC236}">
                <a16:creationId xmlns:a16="http://schemas.microsoft.com/office/drawing/2014/main" id="{BBB45C64-99C6-45A5-6FD2-A21726F81F87}"/>
              </a:ext>
            </a:extLst>
          </p:cNvPr>
          <p:cNvSpPr txBox="1"/>
          <p:nvPr/>
        </p:nvSpPr>
        <p:spPr bwMode="auto">
          <a:xfrm>
            <a:off x="294001" y="3506644"/>
            <a:ext cx="4491950" cy="1077218"/>
          </a:xfrm>
          <a:prstGeom prst="rect">
            <a:avLst/>
          </a:prstGeom>
        </p:spPr>
        <p:txBody>
          <a:bodyPr wrap="square" rtlCol="0">
            <a:spAutoFit/>
          </a:bodyPr>
          <a:lstStyle/>
          <a:p>
            <a:pPr algn="ctr"/>
            <a:r>
              <a:rPr lang="ru-RU" sz="3200" b="1" dirty="0"/>
              <a:t>Актуальность выбранной темы</a:t>
            </a:r>
          </a:p>
        </p:txBody>
      </p:sp>
      <p:sp>
        <p:nvSpPr>
          <p:cNvPr id="2075" name="Знак ''минус'' 2074">
            <a:extLst>
              <a:ext uri="{FF2B5EF4-FFF2-40B4-BE49-F238E27FC236}">
                <a16:creationId xmlns:a16="http://schemas.microsoft.com/office/drawing/2014/main" id="{7EE3679C-6F66-41E5-291F-2BE33A2A1A3D}"/>
              </a:ext>
            </a:extLst>
          </p:cNvPr>
          <p:cNvSpPr/>
          <p:nvPr/>
        </p:nvSpPr>
        <p:spPr>
          <a:xfrm>
            <a:off x="1465693" y="4608104"/>
            <a:ext cx="2148566" cy="261570"/>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76" name="TextBox 2075">
            <a:extLst>
              <a:ext uri="{FF2B5EF4-FFF2-40B4-BE49-F238E27FC236}">
                <a16:creationId xmlns:a16="http://schemas.microsoft.com/office/drawing/2014/main" id="{A05AE4CB-69CC-C0B9-09A8-22A3CF5F4459}"/>
              </a:ext>
            </a:extLst>
          </p:cNvPr>
          <p:cNvSpPr txBox="1"/>
          <p:nvPr/>
        </p:nvSpPr>
        <p:spPr bwMode="auto">
          <a:xfrm>
            <a:off x="780233" y="4962737"/>
            <a:ext cx="4191142" cy="1200329"/>
          </a:xfrm>
          <a:prstGeom prst="rect">
            <a:avLst/>
          </a:prstGeom>
        </p:spPr>
        <p:txBody>
          <a:bodyPr wrap="square" rtlCol="0">
            <a:spAutoFit/>
          </a:bodyPr>
          <a:lstStyle/>
          <a:p>
            <a:r>
              <a:rPr lang="ru-RU" dirty="0"/>
              <a:t>Кафедрам ВУЗов необходимо прикладное решение для планирования занятостей помещений</a:t>
            </a:r>
          </a:p>
        </p:txBody>
      </p:sp>
    </p:spTree>
    <p:extLst>
      <p:ext uri="{BB962C8B-B14F-4D97-AF65-F5344CB8AC3E}">
        <p14:creationId xmlns:p14="http://schemas.microsoft.com/office/powerpoint/2010/main" val="1334778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Прямоугольник: скругленные углы 15">
            <a:extLst>
              <a:ext uri="{FF2B5EF4-FFF2-40B4-BE49-F238E27FC236}">
                <a16:creationId xmlns:a16="http://schemas.microsoft.com/office/drawing/2014/main" id="{3350BBC4-49C1-D5CF-17A2-3978B6400043}"/>
              </a:ext>
            </a:extLst>
          </p:cNvPr>
          <p:cNvSpPr/>
          <p:nvPr/>
        </p:nvSpPr>
        <p:spPr>
          <a:xfrm>
            <a:off x="9167390" y="719151"/>
            <a:ext cx="2408173" cy="5207088"/>
          </a:xfrm>
          <a:prstGeom prst="roundRect">
            <a:avLst/>
          </a:prstGeom>
          <a:solidFill>
            <a:srgbClr val="F2F3FB"/>
          </a:solidFill>
          <a:ln>
            <a:solidFill>
              <a:schemeClr val="tx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Текст 3">
            <a:extLst>
              <a:ext uri="{FF2B5EF4-FFF2-40B4-BE49-F238E27FC236}">
                <a16:creationId xmlns:a16="http://schemas.microsoft.com/office/drawing/2014/main" id="{87981C0D-F52C-5D37-F191-FF9B481A6F4D}"/>
              </a:ext>
            </a:extLst>
          </p:cNvPr>
          <p:cNvSpPr>
            <a:spLocks noGrp="1"/>
          </p:cNvSpPr>
          <p:nvPr>
            <p:ph type="body" sz="quarter" idx="19"/>
          </p:nvPr>
        </p:nvSpPr>
        <p:spPr/>
        <p:txBody>
          <a:bodyPr/>
          <a:lstStyle/>
          <a:p>
            <a:endParaRPr lang="ru-RU"/>
          </a:p>
        </p:txBody>
      </p:sp>
      <p:sp>
        <p:nvSpPr>
          <p:cNvPr id="7" name="TextBox 6">
            <a:extLst>
              <a:ext uri="{FF2B5EF4-FFF2-40B4-BE49-F238E27FC236}">
                <a16:creationId xmlns:a16="http://schemas.microsoft.com/office/drawing/2014/main" id="{818ED099-9F1A-1E75-C614-8D31AD9B6DBE}"/>
              </a:ext>
            </a:extLst>
          </p:cNvPr>
          <p:cNvSpPr txBox="1"/>
          <p:nvPr/>
        </p:nvSpPr>
        <p:spPr bwMode="auto">
          <a:xfrm>
            <a:off x="3047036" y="3235653"/>
            <a:ext cx="6094070" cy="369332"/>
          </a:xfrm>
          <a:prstGeom prst="rect">
            <a:avLst/>
          </a:prstGeom>
          <a:noFill/>
        </p:spPr>
        <p:txBody>
          <a:bodyPr wrap="square">
            <a:spAutoFit/>
          </a:bodyPr>
          <a:lstStyle/>
          <a:p>
            <a:endParaRPr lang="ru-RU" dirty="0"/>
          </a:p>
        </p:txBody>
      </p:sp>
      <p:pic>
        <p:nvPicPr>
          <p:cNvPr id="11" name="Рисунок 10">
            <a:extLst>
              <a:ext uri="{FF2B5EF4-FFF2-40B4-BE49-F238E27FC236}">
                <a16:creationId xmlns:a16="http://schemas.microsoft.com/office/drawing/2014/main" id="{A074537F-9BA5-407C-B31B-77EE362FD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65" y="1388962"/>
            <a:ext cx="8730386" cy="4913453"/>
          </a:xfrm>
          <a:prstGeom prst="rect">
            <a:avLst/>
          </a:prstGeom>
        </p:spPr>
      </p:pic>
      <p:sp>
        <p:nvSpPr>
          <p:cNvPr id="12" name="TextBox 11">
            <a:extLst>
              <a:ext uri="{FF2B5EF4-FFF2-40B4-BE49-F238E27FC236}">
                <a16:creationId xmlns:a16="http://schemas.microsoft.com/office/drawing/2014/main" id="{1E267C25-8E1A-46B1-5B04-58AD23799AB6}"/>
              </a:ext>
            </a:extLst>
          </p:cNvPr>
          <p:cNvSpPr txBox="1"/>
          <p:nvPr/>
        </p:nvSpPr>
        <p:spPr bwMode="auto">
          <a:xfrm>
            <a:off x="88731" y="715022"/>
            <a:ext cx="8641655" cy="584775"/>
          </a:xfrm>
          <a:prstGeom prst="rect">
            <a:avLst/>
          </a:prstGeom>
        </p:spPr>
        <p:txBody>
          <a:bodyPr wrap="square" rtlCol="0">
            <a:spAutoFit/>
          </a:bodyPr>
          <a:lstStyle/>
          <a:p>
            <a:pPr algn="ctr"/>
            <a:r>
              <a:rPr lang="ru-RU" sz="3200" b="1" dirty="0"/>
              <a:t>Сравнение существующих аналогов</a:t>
            </a:r>
          </a:p>
        </p:txBody>
      </p:sp>
      <p:sp>
        <p:nvSpPr>
          <p:cNvPr id="13" name="Знак ''минус'' 12">
            <a:extLst>
              <a:ext uri="{FF2B5EF4-FFF2-40B4-BE49-F238E27FC236}">
                <a16:creationId xmlns:a16="http://schemas.microsoft.com/office/drawing/2014/main" id="{D9A29F41-EB50-CFCB-4F3C-A1A819327770}"/>
              </a:ext>
            </a:extLst>
          </p:cNvPr>
          <p:cNvSpPr/>
          <p:nvPr/>
        </p:nvSpPr>
        <p:spPr>
          <a:xfrm>
            <a:off x="-767797" y="1256696"/>
            <a:ext cx="8641655" cy="17536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a:extLst>
              <a:ext uri="{FF2B5EF4-FFF2-40B4-BE49-F238E27FC236}">
                <a16:creationId xmlns:a16="http://schemas.microsoft.com/office/drawing/2014/main" id="{48F96D8B-5148-13EA-2004-D5EA191D9C8D}"/>
              </a:ext>
            </a:extLst>
          </p:cNvPr>
          <p:cNvPicPr>
            <a:picLocks noChangeAspect="1"/>
          </p:cNvPicPr>
          <p:nvPr/>
        </p:nvPicPr>
        <p:blipFill>
          <a:blip r:embed="rId3"/>
          <a:stretch>
            <a:fillRect/>
          </a:stretch>
        </p:blipFill>
        <p:spPr>
          <a:xfrm>
            <a:off x="9462862" y="857880"/>
            <a:ext cx="1817225" cy="736454"/>
          </a:xfrm>
          <a:prstGeom prst="rect">
            <a:avLst/>
          </a:prstGeom>
        </p:spPr>
      </p:pic>
      <p:cxnSp>
        <p:nvCxnSpPr>
          <p:cNvPr id="18" name="Прямая соединительная линия 17">
            <a:extLst>
              <a:ext uri="{FF2B5EF4-FFF2-40B4-BE49-F238E27FC236}">
                <a16:creationId xmlns:a16="http://schemas.microsoft.com/office/drawing/2014/main" id="{FCC1FEA4-88BA-624D-CB5F-F10BC90CD1C4}"/>
              </a:ext>
            </a:extLst>
          </p:cNvPr>
          <p:cNvCxnSpPr/>
          <p:nvPr/>
        </p:nvCxnSpPr>
        <p:spPr>
          <a:xfrm>
            <a:off x="9489533" y="1591902"/>
            <a:ext cx="1817225"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58C9334-7A5E-D22F-3351-524BBC669201}"/>
              </a:ext>
            </a:extLst>
          </p:cNvPr>
          <p:cNvSpPr txBox="1"/>
          <p:nvPr/>
        </p:nvSpPr>
        <p:spPr bwMode="auto">
          <a:xfrm>
            <a:off x="9328199" y="1733063"/>
            <a:ext cx="2247364" cy="4031873"/>
          </a:xfrm>
          <a:prstGeom prst="rect">
            <a:avLst/>
          </a:prstGeom>
          <a:noFill/>
        </p:spPr>
        <p:txBody>
          <a:bodyPr wrap="square">
            <a:spAutoFit/>
          </a:bodyPr>
          <a:lstStyle/>
          <a:p>
            <a:r>
              <a:rPr lang="ru-RU" sz="1600" dirty="0"/>
              <a:t>На рынке отсутствует решение, которое одновременно учитывает специфику работы кафедры, соответствует требованиям импортозамещения и обеспечивает оперативное управление аудиториями в реальном времени.</a:t>
            </a:r>
          </a:p>
        </p:txBody>
      </p:sp>
      <p:sp>
        <p:nvSpPr>
          <p:cNvPr id="21" name="TextBox 20">
            <a:extLst>
              <a:ext uri="{FF2B5EF4-FFF2-40B4-BE49-F238E27FC236}">
                <a16:creationId xmlns:a16="http://schemas.microsoft.com/office/drawing/2014/main" id="{7DC0F8AB-1EF4-3BA6-A81F-8E33C97B8A07}"/>
              </a:ext>
            </a:extLst>
          </p:cNvPr>
          <p:cNvSpPr txBox="1"/>
          <p:nvPr/>
        </p:nvSpPr>
        <p:spPr bwMode="auto">
          <a:xfrm>
            <a:off x="11684000" y="6391475"/>
            <a:ext cx="843280" cy="369332"/>
          </a:xfrm>
          <a:prstGeom prst="rect">
            <a:avLst/>
          </a:prstGeom>
        </p:spPr>
        <p:txBody>
          <a:bodyPr wrap="square" rtlCol="0">
            <a:spAutoFit/>
          </a:bodyPr>
          <a:lstStyle/>
          <a:p>
            <a:r>
              <a:rPr lang="ru-RU" dirty="0"/>
              <a:t>3</a:t>
            </a:r>
          </a:p>
        </p:txBody>
      </p:sp>
      <p:pic>
        <p:nvPicPr>
          <p:cNvPr id="23" name="Рисунок 22">
            <a:extLst>
              <a:ext uri="{FF2B5EF4-FFF2-40B4-BE49-F238E27FC236}">
                <a16:creationId xmlns:a16="http://schemas.microsoft.com/office/drawing/2014/main" id="{96560FD4-B0D4-5BB4-3D5F-FD1CFBB9F72E}"/>
              </a:ext>
            </a:extLst>
          </p:cNvPr>
          <p:cNvPicPr>
            <a:picLocks noChangeAspect="1"/>
          </p:cNvPicPr>
          <p:nvPr/>
        </p:nvPicPr>
        <p:blipFill>
          <a:blip r:embed="rId4">
            <a:extLst>
              <a:ext uri="{28A0092B-C50C-407E-A947-70E740481C1C}">
                <a14:useLocalDpi xmlns:a14="http://schemas.microsoft.com/office/drawing/2010/main" val="0"/>
              </a:ext>
            </a:extLst>
          </a:blip>
          <a:srcRect t="9450" b="-9450"/>
          <a:stretch>
            <a:fillRect/>
          </a:stretch>
        </p:blipFill>
        <p:spPr>
          <a:xfrm>
            <a:off x="3239" y="648000"/>
            <a:ext cx="12185522" cy="6858000"/>
          </a:xfrm>
          <a:prstGeom prst="rect">
            <a:avLst/>
          </a:prstGeom>
        </p:spPr>
      </p:pic>
      <p:sp>
        <p:nvSpPr>
          <p:cNvPr id="25" name="TextBox 24">
            <a:extLst>
              <a:ext uri="{FF2B5EF4-FFF2-40B4-BE49-F238E27FC236}">
                <a16:creationId xmlns:a16="http://schemas.microsoft.com/office/drawing/2014/main" id="{DEDA155A-938E-6AC3-61B2-011FE70ED4E5}"/>
              </a:ext>
            </a:extLst>
          </p:cNvPr>
          <p:cNvSpPr txBox="1"/>
          <p:nvPr/>
        </p:nvSpPr>
        <p:spPr bwMode="auto">
          <a:xfrm>
            <a:off x="11684000" y="6391475"/>
            <a:ext cx="508000" cy="369332"/>
          </a:xfrm>
          <a:prstGeom prst="rect">
            <a:avLst/>
          </a:prstGeom>
        </p:spPr>
        <p:txBody>
          <a:bodyPr wrap="square" rtlCol="0">
            <a:spAutoFit/>
          </a:bodyPr>
          <a:lstStyle/>
          <a:p>
            <a:r>
              <a:rPr lang="ru-RU" dirty="0"/>
              <a:t>4</a:t>
            </a:r>
          </a:p>
        </p:txBody>
      </p:sp>
    </p:spTree>
    <p:extLst>
      <p:ext uri="{BB962C8B-B14F-4D97-AF65-F5344CB8AC3E}">
        <p14:creationId xmlns:p14="http://schemas.microsoft.com/office/powerpoint/2010/main" val="1448984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F146642-3397-37DD-D60C-ED51C8C63F4C}"/>
              </a:ext>
            </a:extLst>
          </p:cNvPr>
          <p:cNvSpPr>
            <a:spLocks noGrp="1"/>
          </p:cNvSpPr>
          <p:nvPr>
            <p:ph type="body" sz="quarter" idx="19"/>
          </p:nvPr>
        </p:nvSpPr>
        <p:spPr/>
        <p:txBody>
          <a:bodyPr/>
          <a:lstStyle/>
          <a:p>
            <a:endParaRPr lang="ru-RU"/>
          </a:p>
        </p:txBody>
      </p:sp>
      <p:sp>
        <p:nvSpPr>
          <p:cNvPr id="5" name="TextBox 4">
            <a:extLst>
              <a:ext uri="{FF2B5EF4-FFF2-40B4-BE49-F238E27FC236}">
                <a16:creationId xmlns:a16="http://schemas.microsoft.com/office/drawing/2014/main" id="{20CBA7A2-77D4-B080-BB14-D69F844F94A8}"/>
              </a:ext>
            </a:extLst>
          </p:cNvPr>
          <p:cNvSpPr txBox="1"/>
          <p:nvPr/>
        </p:nvSpPr>
        <p:spPr bwMode="auto">
          <a:xfrm>
            <a:off x="2329885" y="5722518"/>
            <a:ext cx="5249966" cy="369332"/>
          </a:xfrm>
          <a:prstGeom prst="rect">
            <a:avLst/>
          </a:prstGeom>
          <a:noFill/>
        </p:spPr>
        <p:txBody>
          <a:bodyPr wrap="square">
            <a:spAutoFit/>
          </a:bodyPr>
          <a:lstStyle/>
          <a:p>
            <a:pPr>
              <a:buFont typeface="Arial" panose="020B0604020202020204" pitchFamily="34" charset="0"/>
              <a:buChar char="•"/>
            </a:pPr>
            <a:r>
              <a:rPr lang="ru-RU" dirty="0"/>
              <a:t>История использования аудиторий;</a:t>
            </a:r>
          </a:p>
        </p:txBody>
      </p:sp>
      <p:pic>
        <p:nvPicPr>
          <p:cNvPr id="6" name="Рисунок 5">
            <a:extLst>
              <a:ext uri="{FF2B5EF4-FFF2-40B4-BE49-F238E27FC236}">
                <a16:creationId xmlns:a16="http://schemas.microsoft.com/office/drawing/2014/main" id="{A33E658F-0216-EE4F-F4C4-B958D3033BE8}"/>
              </a:ext>
            </a:extLst>
          </p:cNvPr>
          <p:cNvPicPr>
            <a:picLocks noChangeAspect="1"/>
          </p:cNvPicPr>
          <p:nvPr/>
        </p:nvPicPr>
        <p:blipFill>
          <a:blip r:embed="rId3"/>
          <a:stretch/>
        </p:blipFill>
        <p:spPr bwMode="auto">
          <a:xfrm>
            <a:off x="688261" y="870284"/>
            <a:ext cx="1002908" cy="912556"/>
          </a:xfrm>
          <a:prstGeom prst="rect">
            <a:avLst/>
          </a:prstGeom>
        </p:spPr>
      </p:pic>
      <p:sp>
        <p:nvSpPr>
          <p:cNvPr id="8" name="TextBox 7">
            <a:extLst>
              <a:ext uri="{FF2B5EF4-FFF2-40B4-BE49-F238E27FC236}">
                <a16:creationId xmlns:a16="http://schemas.microsoft.com/office/drawing/2014/main" id="{7B344814-41C3-97D4-D5A9-88121362FD6F}"/>
              </a:ext>
            </a:extLst>
          </p:cNvPr>
          <p:cNvSpPr txBox="1"/>
          <p:nvPr/>
        </p:nvSpPr>
        <p:spPr bwMode="auto">
          <a:xfrm>
            <a:off x="1762354" y="900865"/>
            <a:ext cx="10429646" cy="954107"/>
          </a:xfrm>
          <a:prstGeom prst="rect">
            <a:avLst/>
          </a:prstGeom>
          <a:noFill/>
        </p:spPr>
        <p:txBody>
          <a:bodyPr wrap="square">
            <a:spAutoFit/>
          </a:bodyPr>
          <a:lstStyle/>
          <a:p>
            <a:r>
              <a:rPr lang="ru-RU" sz="2800" b="1" dirty="0"/>
              <a:t>Объект исследования — кафедра КИС ВУЗа</a:t>
            </a:r>
            <a:br>
              <a:rPr lang="ru-RU" sz="2800" b="1" dirty="0"/>
            </a:br>
            <a:r>
              <a:rPr lang="ru-RU" sz="2800" b="1" dirty="0"/>
              <a:t>Структура предметной области:</a:t>
            </a:r>
          </a:p>
        </p:txBody>
      </p:sp>
      <p:sp>
        <p:nvSpPr>
          <p:cNvPr id="14" name="TextBox 13">
            <a:extLst>
              <a:ext uri="{FF2B5EF4-FFF2-40B4-BE49-F238E27FC236}">
                <a16:creationId xmlns:a16="http://schemas.microsoft.com/office/drawing/2014/main" id="{D98A823D-5DA6-B093-915F-723BD454516A}"/>
              </a:ext>
            </a:extLst>
          </p:cNvPr>
          <p:cNvSpPr txBox="1"/>
          <p:nvPr/>
        </p:nvSpPr>
        <p:spPr bwMode="auto">
          <a:xfrm>
            <a:off x="2113669" y="2246888"/>
            <a:ext cx="6096000" cy="646331"/>
          </a:xfrm>
          <a:prstGeom prst="rect">
            <a:avLst/>
          </a:prstGeom>
          <a:noFill/>
        </p:spPr>
        <p:txBody>
          <a:bodyPr wrap="square">
            <a:spAutoFit/>
          </a:bodyPr>
          <a:lstStyle/>
          <a:p>
            <a:pPr>
              <a:buFont typeface="Arial" panose="020B0604020202020204" pitchFamily="34" charset="0"/>
              <a:buChar char="•"/>
            </a:pPr>
            <a:r>
              <a:rPr lang="ru-RU" dirty="0"/>
              <a:t>Преподаватели кафедры (ФИО, контакты, наличие ключей);</a:t>
            </a:r>
          </a:p>
        </p:txBody>
      </p:sp>
      <p:sp>
        <p:nvSpPr>
          <p:cNvPr id="16" name="TextBox 15">
            <a:extLst>
              <a:ext uri="{FF2B5EF4-FFF2-40B4-BE49-F238E27FC236}">
                <a16:creationId xmlns:a16="http://schemas.microsoft.com/office/drawing/2014/main" id="{F2E0ECF9-684C-B6D0-B701-78909B720CC9}"/>
              </a:ext>
            </a:extLst>
          </p:cNvPr>
          <p:cNvSpPr txBox="1"/>
          <p:nvPr/>
        </p:nvSpPr>
        <p:spPr bwMode="auto">
          <a:xfrm>
            <a:off x="5736744" y="2955297"/>
            <a:ext cx="6096000" cy="646331"/>
          </a:xfrm>
          <a:prstGeom prst="rect">
            <a:avLst/>
          </a:prstGeom>
          <a:noFill/>
        </p:spPr>
        <p:txBody>
          <a:bodyPr wrap="square">
            <a:spAutoFit/>
          </a:bodyPr>
          <a:lstStyle/>
          <a:p>
            <a:pPr>
              <a:buFont typeface="Arial" panose="020B0604020202020204" pitchFamily="34" charset="0"/>
              <a:buChar char="•"/>
            </a:pPr>
            <a:r>
              <a:rPr lang="ru-RU" dirty="0"/>
              <a:t>Аудитории кафедры (номер, вместимость, оснащение, доступность);</a:t>
            </a:r>
          </a:p>
        </p:txBody>
      </p:sp>
      <p:sp>
        <p:nvSpPr>
          <p:cNvPr id="18" name="TextBox 17">
            <a:extLst>
              <a:ext uri="{FF2B5EF4-FFF2-40B4-BE49-F238E27FC236}">
                <a16:creationId xmlns:a16="http://schemas.microsoft.com/office/drawing/2014/main" id="{B699EB12-8DF1-EF10-1D65-DC75ACB8C2EA}"/>
              </a:ext>
            </a:extLst>
          </p:cNvPr>
          <p:cNvSpPr txBox="1"/>
          <p:nvPr/>
        </p:nvSpPr>
        <p:spPr bwMode="auto">
          <a:xfrm>
            <a:off x="5965516" y="4836544"/>
            <a:ext cx="6096000" cy="369332"/>
          </a:xfrm>
          <a:prstGeom prst="rect">
            <a:avLst/>
          </a:prstGeom>
          <a:noFill/>
        </p:spPr>
        <p:txBody>
          <a:bodyPr wrap="square">
            <a:spAutoFit/>
          </a:bodyPr>
          <a:lstStyle/>
          <a:p>
            <a:pPr>
              <a:buFont typeface="Arial" panose="020B0604020202020204" pitchFamily="34" charset="0"/>
              <a:buChar char="•"/>
            </a:pPr>
            <a:r>
              <a:rPr lang="ru-RU" dirty="0"/>
              <a:t>Расписание занятий и мероприятий;</a:t>
            </a:r>
          </a:p>
        </p:txBody>
      </p:sp>
      <p:sp>
        <p:nvSpPr>
          <p:cNvPr id="20" name="TextBox 19">
            <a:extLst>
              <a:ext uri="{FF2B5EF4-FFF2-40B4-BE49-F238E27FC236}">
                <a16:creationId xmlns:a16="http://schemas.microsoft.com/office/drawing/2014/main" id="{44F861FE-62EC-8AE6-613E-FD1C156C9369}"/>
              </a:ext>
            </a:extLst>
          </p:cNvPr>
          <p:cNvSpPr txBox="1"/>
          <p:nvPr/>
        </p:nvSpPr>
        <p:spPr bwMode="auto">
          <a:xfrm>
            <a:off x="1906108" y="3850208"/>
            <a:ext cx="6096000" cy="646331"/>
          </a:xfrm>
          <a:prstGeom prst="rect">
            <a:avLst/>
          </a:prstGeom>
          <a:noFill/>
        </p:spPr>
        <p:txBody>
          <a:bodyPr wrap="square">
            <a:spAutoFit/>
          </a:bodyPr>
          <a:lstStyle/>
          <a:p>
            <a:pPr>
              <a:buFont typeface="Arial" panose="020B0604020202020204" pitchFamily="34" charset="0"/>
              <a:buChar char="•"/>
            </a:pPr>
            <a:r>
              <a:rPr lang="ru-RU" dirty="0"/>
              <a:t>Статусы аудиторий (занята, свободна, закрыта, ремонт);</a:t>
            </a:r>
          </a:p>
        </p:txBody>
      </p:sp>
      <p:pic>
        <p:nvPicPr>
          <p:cNvPr id="21" name="Рисунок 20">
            <a:extLst>
              <a:ext uri="{FF2B5EF4-FFF2-40B4-BE49-F238E27FC236}">
                <a16:creationId xmlns:a16="http://schemas.microsoft.com/office/drawing/2014/main" id="{64EB863D-6142-7998-F696-FD0C2293072D}"/>
              </a:ext>
            </a:extLst>
          </p:cNvPr>
          <p:cNvPicPr>
            <a:picLocks noChangeAspect="1"/>
          </p:cNvPicPr>
          <p:nvPr/>
        </p:nvPicPr>
        <p:blipFill>
          <a:blip r:embed="rId4"/>
          <a:stretch/>
        </p:blipFill>
        <p:spPr bwMode="auto">
          <a:xfrm>
            <a:off x="1616132" y="2307668"/>
            <a:ext cx="497823" cy="468191"/>
          </a:xfrm>
          <a:prstGeom prst="rect">
            <a:avLst/>
          </a:prstGeom>
        </p:spPr>
      </p:pic>
      <p:pic>
        <p:nvPicPr>
          <p:cNvPr id="22" name="Рисунок 21">
            <a:extLst>
              <a:ext uri="{FF2B5EF4-FFF2-40B4-BE49-F238E27FC236}">
                <a16:creationId xmlns:a16="http://schemas.microsoft.com/office/drawing/2014/main" id="{FFE31C16-944B-4168-A02F-3ACF55BD1D52}"/>
              </a:ext>
            </a:extLst>
          </p:cNvPr>
          <p:cNvPicPr>
            <a:picLocks noChangeAspect="1"/>
          </p:cNvPicPr>
          <p:nvPr/>
        </p:nvPicPr>
        <p:blipFill>
          <a:blip r:embed="rId5"/>
          <a:stretch/>
        </p:blipFill>
        <p:spPr bwMode="auto">
          <a:xfrm>
            <a:off x="5235290" y="3004220"/>
            <a:ext cx="497822" cy="505983"/>
          </a:xfrm>
          <a:prstGeom prst="rect">
            <a:avLst/>
          </a:prstGeom>
        </p:spPr>
      </p:pic>
      <p:pic>
        <p:nvPicPr>
          <p:cNvPr id="23" name="Рисунок 22">
            <a:extLst>
              <a:ext uri="{FF2B5EF4-FFF2-40B4-BE49-F238E27FC236}">
                <a16:creationId xmlns:a16="http://schemas.microsoft.com/office/drawing/2014/main" id="{F7C743D9-1B80-F58A-71BB-B62A53BF07C9}"/>
              </a:ext>
            </a:extLst>
          </p:cNvPr>
          <p:cNvPicPr>
            <a:picLocks noChangeAspect="1"/>
          </p:cNvPicPr>
          <p:nvPr/>
        </p:nvPicPr>
        <p:blipFill>
          <a:blip r:embed="rId6"/>
          <a:stretch/>
        </p:blipFill>
        <p:spPr bwMode="auto">
          <a:xfrm>
            <a:off x="5542784" y="4735460"/>
            <a:ext cx="419100" cy="571500"/>
          </a:xfrm>
          <a:prstGeom prst="rect">
            <a:avLst/>
          </a:prstGeom>
        </p:spPr>
      </p:pic>
      <p:grpSp>
        <p:nvGrpSpPr>
          <p:cNvPr id="24" name="Группа 23">
            <a:extLst>
              <a:ext uri="{FF2B5EF4-FFF2-40B4-BE49-F238E27FC236}">
                <a16:creationId xmlns:a16="http://schemas.microsoft.com/office/drawing/2014/main" id="{4927EF06-0C8C-CD55-E7F6-5F995191E79A}"/>
              </a:ext>
            </a:extLst>
          </p:cNvPr>
          <p:cNvGrpSpPr/>
          <p:nvPr/>
        </p:nvGrpSpPr>
        <p:grpSpPr bwMode="auto">
          <a:xfrm>
            <a:off x="1099097" y="3884664"/>
            <a:ext cx="807010" cy="458093"/>
            <a:chOff x="2658305" y="3049082"/>
            <a:chExt cx="807010" cy="458093"/>
          </a:xfrm>
        </p:grpSpPr>
        <p:pic>
          <p:nvPicPr>
            <p:cNvPr id="25" name="Рисунок 24">
              <a:extLst>
                <a:ext uri="{FF2B5EF4-FFF2-40B4-BE49-F238E27FC236}">
                  <a16:creationId xmlns:a16="http://schemas.microsoft.com/office/drawing/2014/main" id="{F4A8D2FF-FDDC-CC8C-5D4E-F50EF9E8945A}"/>
                </a:ext>
              </a:extLst>
            </p:cNvPr>
            <p:cNvPicPr>
              <a:picLocks noChangeAspect="1"/>
            </p:cNvPicPr>
            <p:nvPr/>
          </p:nvPicPr>
          <p:blipFill>
            <a:blip r:embed="rId7"/>
            <a:stretch/>
          </p:blipFill>
          <p:spPr bwMode="auto">
            <a:xfrm>
              <a:off x="3008116" y="3049975"/>
              <a:ext cx="457200" cy="457200"/>
            </a:xfrm>
            <a:prstGeom prst="rect">
              <a:avLst/>
            </a:prstGeom>
          </p:spPr>
        </p:pic>
        <p:pic>
          <p:nvPicPr>
            <p:cNvPr id="26" name="Рисунок 25">
              <a:extLst>
                <a:ext uri="{FF2B5EF4-FFF2-40B4-BE49-F238E27FC236}">
                  <a16:creationId xmlns:a16="http://schemas.microsoft.com/office/drawing/2014/main" id="{4023E043-A848-8920-189D-2459B93C1547}"/>
                </a:ext>
              </a:extLst>
            </p:cNvPr>
            <p:cNvPicPr>
              <a:picLocks noChangeAspect="1"/>
            </p:cNvPicPr>
            <p:nvPr/>
          </p:nvPicPr>
          <p:blipFill>
            <a:blip r:embed="rId8"/>
            <a:stretch/>
          </p:blipFill>
          <p:spPr bwMode="auto">
            <a:xfrm>
              <a:off x="2658305" y="3049082"/>
              <a:ext cx="457200" cy="457200"/>
            </a:xfrm>
            <a:prstGeom prst="rect">
              <a:avLst/>
            </a:prstGeom>
          </p:spPr>
        </p:pic>
      </p:grpSp>
      <p:pic>
        <p:nvPicPr>
          <p:cNvPr id="27" name="Рисунок 26">
            <a:extLst>
              <a:ext uri="{FF2B5EF4-FFF2-40B4-BE49-F238E27FC236}">
                <a16:creationId xmlns:a16="http://schemas.microsoft.com/office/drawing/2014/main" id="{C2FF56CE-5094-E542-3522-E872E9D2F866}"/>
              </a:ext>
            </a:extLst>
          </p:cNvPr>
          <p:cNvPicPr>
            <a:picLocks noChangeAspect="1"/>
          </p:cNvPicPr>
          <p:nvPr/>
        </p:nvPicPr>
        <p:blipFill>
          <a:blip r:embed="rId9"/>
          <a:stretch/>
        </p:blipFill>
        <p:spPr bwMode="auto">
          <a:xfrm>
            <a:off x="1835968" y="5630681"/>
            <a:ext cx="553005" cy="553005"/>
          </a:xfrm>
          <a:prstGeom prst="rect">
            <a:avLst/>
          </a:prstGeom>
        </p:spPr>
      </p:pic>
      <p:sp>
        <p:nvSpPr>
          <p:cNvPr id="32" name="TextBox 31">
            <a:extLst>
              <a:ext uri="{FF2B5EF4-FFF2-40B4-BE49-F238E27FC236}">
                <a16:creationId xmlns:a16="http://schemas.microsoft.com/office/drawing/2014/main" id="{E4CADBD5-BE5D-C1A8-D94E-20CA9CD87FC2}"/>
              </a:ext>
            </a:extLst>
          </p:cNvPr>
          <p:cNvSpPr txBox="1"/>
          <p:nvPr/>
        </p:nvSpPr>
        <p:spPr bwMode="auto">
          <a:xfrm>
            <a:off x="11684000" y="6391475"/>
            <a:ext cx="843280" cy="369332"/>
          </a:xfrm>
          <a:prstGeom prst="rect">
            <a:avLst/>
          </a:prstGeom>
        </p:spPr>
        <p:txBody>
          <a:bodyPr wrap="square" rtlCol="0">
            <a:spAutoFit/>
          </a:bodyPr>
          <a:lstStyle/>
          <a:p>
            <a:r>
              <a:rPr lang="ru-RU" dirty="0"/>
              <a:t>4</a:t>
            </a:r>
          </a:p>
        </p:txBody>
      </p:sp>
      <p:sp>
        <p:nvSpPr>
          <p:cNvPr id="4" name="TextBox 3">
            <a:extLst>
              <a:ext uri="{FF2B5EF4-FFF2-40B4-BE49-F238E27FC236}">
                <a16:creationId xmlns:a16="http://schemas.microsoft.com/office/drawing/2014/main" id="{B7800B4D-7A45-E3E9-CECD-B2A79EA3D857}"/>
              </a:ext>
            </a:extLst>
          </p:cNvPr>
          <p:cNvSpPr txBox="1"/>
          <p:nvPr/>
        </p:nvSpPr>
        <p:spPr bwMode="auto">
          <a:xfrm>
            <a:off x="3172460" y="3325537"/>
            <a:ext cx="6263640" cy="369332"/>
          </a:xfrm>
          <a:prstGeom prst="rect">
            <a:avLst/>
          </a:prstGeom>
          <a:noFill/>
        </p:spPr>
        <p:txBody>
          <a:bodyPr wrap="square">
            <a:spAutoFit/>
          </a:bodyPr>
          <a:lstStyle/>
          <a:p>
            <a:endParaRPr lang="ru-RU" dirty="0"/>
          </a:p>
        </p:txBody>
      </p:sp>
      <p:sp>
        <p:nvSpPr>
          <p:cNvPr id="17" name="Прямоугольник 16">
            <a:extLst>
              <a:ext uri="{FF2B5EF4-FFF2-40B4-BE49-F238E27FC236}">
                <a16:creationId xmlns:a16="http://schemas.microsoft.com/office/drawing/2014/main" id="{F4D696ED-CF68-7CF9-7544-8562B56F7F21}"/>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a:extLst>
              <a:ext uri="{FF2B5EF4-FFF2-40B4-BE49-F238E27FC236}">
                <a16:creationId xmlns:a16="http://schemas.microsoft.com/office/drawing/2014/main" id="{081AAC84-6E50-5B5A-F6FF-F28453B75017}"/>
              </a:ext>
            </a:extLst>
          </p:cNvPr>
          <p:cNvPicPr>
            <a:picLocks noChangeAspect="1"/>
          </p:cNvPicPr>
          <p:nvPr/>
        </p:nvPicPr>
        <p:blipFill>
          <a:blip r:embed="rId10">
            <a:extLst>
              <a:ext uri="{28A0092B-C50C-407E-A947-70E740481C1C}">
                <a14:useLocalDpi xmlns:a14="http://schemas.microsoft.com/office/drawing/2010/main" val="0"/>
              </a:ext>
            </a:extLst>
          </a:blip>
          <a:srcRect t="-25770" b="25770"/>
          <a:stretch>
            <a:fillRect/>
          </a:stretch>
        </p:blipFill>
        <p:spPr>
          <a:xfrm>
            <a:off x="0" y="-699954"/>
            <a:ext cx="12192000" cy="6858000"/>
          </a:xfrm>
          <a:prstGeom prst="rect">
            <a:avLst/>
          </a:prstGeom>
        </p:spPr>
      </p:pic>
      <p:sp>
        <p:nvSpPr>
          <p:cNvPr id="19" name="TextBox 18">
            <a:extLst>
              <a:ext uri="{FF2B5EF4-FFF2-40B4-BE49-F238E27FC236}">
                <a16:creationId xmlns:a16="http://schemas.microsoft.com/office/drawing/2014/main" id="{DCEB7D95-8DA4-2270-324C-E8457B841231}"/>
              </a:ext>
            </a:extLst>
          </p:cNvPr>
          <p:cNvSpPr txBox="1"/>
          <p:nvPr/>
        </p:nvSpPr>
        <p:spPr bwMode="auto">
          <a:xfrm>
            <a:off x="11684000" y="6391475"/>
            <a:ext cx="508000" cy="369332"/>
          </a:xfrm>
          <a:prstGeom prst="rect">
            <a:avLst/>
          </a:prstGeom>
        </p:spPr>
        <p:txBody>
          <a:bodyPr wrap="square" rtlCol="0">
            <a:spAutoFit/>
          </a:bodyPr>
          <a:lstStyle/>
          <a:p>
            <a:r>
              <a:rPr lang="ru-RU" dirty="0"/>
              <a:t>5</a:t>
            </a:r>
          </a:p>
        </p:txBody>
      </p:sp>
      <p:pic>
        <p:nvPicPr>
          <p:cNvPr id="29" name="Рисунок 28">
            <a:extLst>
              <a:ext uri="{FF2B5EF4-FFF2-40B4-BE49-F238E27FC236}">
                <a16:creationId xmlns:a16="http://schemas.microsoft.com/office/drawing/2014/main" id="{EDEFFF0A-9521-8F1F-41D4-FD9EABED1284}"/>
              </a:ext>
            </a:extLst>
          </p:cNvPr>
          <p:cNvPicPr>
            <a:picLocks noChangeAspect="1"/>
          </p:cNvPicPr>
          <p:nvPr/>
        </p:nvPicPr>
        <p:blipFill>
          <a:blip r:embed="rId11"/>
          <a:stretch>
            <a:fillRect/>
          </a:stretch>
        </p:blipFill>
        <p:spPr>
          <a:xfrm>
            <a:off x="6771193" y="2126426"/>
            <a:ext cx="2886478" cy="247685"/>
          </a:xfrm>
          <a:prstGeom prst="rect">
            <a:avLst/>
          </a:prstGeom>
        </p:spPr>
      </p:pic>
      <p:sp>
        <p:nvSpPr>
          <p:cNvPr id="30" name="Прямоугольник 29">
            <a:extLst>
              <a:ext uri="{FF2B5EF4-FFF2-40B4-BE49-F238E27FC236}">
                <a16:creationId xmlns:a16="http://schemas.microsoft.com/office/drawing/2014/main" id="{8A0C7DA4-AC4B-4080-DFDB-A28B59374585}"/>
              </a:ext>
            </a:extLst>
          </p:cNvPr>
          <p:cNvSpPr/>
          <p:nvPr/>
        </p:nvSpPr>
        <p:spPr>
          <a:xfrm>
            <a:off x="9570720" y="2126426"/>
            <a:ext cx="390144" cy="3668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скругленные углы 30">
            <a:extLst>
              <a:ext uri="{FF2B5EF4-FFF2-40B4-BE49-F238E27FC236}">
                <a16:creationId xmlns:a16="http://schemas.microsoft.com/office/drawing/2014/main" id="{504543DD-7BB9-08FC-8ABF-E02044CBCD8D}"/>
              </a:ext>
            </a:extLst>
          </p:cNvPr>
          <p:cNvSpPr/>
          <p:nvPr/>
        </p:nvSpPr>
        <p:spPr>
          <a:xfrm>
            <a:off x="557546" y="2036064"/>
            <a:ext cx="375142" cy="359664"/>
          </a:xfrm>
          <a:prstGeom prst="roundRect">
            <a:avLst/>
          </a:prstGeom>
          <a:solidFill>
            <a:srgbClr val="4C32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Box 33">
            <a:extLst>
              <a:ext uri="{FF2B5EF4-FFF2-40B4-BE49-F238E27FC236}">
                <a16:creationId xmlns:a16="http://schemas.microsoft.com/office/drawing/2014/main" id="{7DD6E36A-6CCD-05B7-7ED3-D5B3FD403527}"/>
              </a:ext>
            </a:extLst>
          </p:cNvPr>
          <p:cNvSpPr txBox="1"/>
          <p:nvPr/>
        </p:nvSpPr>
        <p:spPr bwMode="auto">
          <a:xfrm>
            <a:off x="3095244" y="2723126"/>
            <a:ext cx="6288024" cy="369332"/>
          </a:xfrm>
          <a:prstGeom prst="rect">
            <a:avLst/>
          </a:prstGeom>
          <a:noFill/>
        </p:spPr>
        <p:txBody>
          <a:bodyPr wrap="square">
            <a:spAutoFit/>
          </a:bodyPr>
          <a:lstStyle/>
          <a:p>
            <a:endParaRPr lang="ru-RU" dirty="0"/>
          </a:p>
        </p:txBody>
      </p:sp>
      <p:pic>
        <p:nvPicPr>
          <p:cNvPr id="36" name="Рисунок 35">
            <a:extLst>
              <a:ext uri="{FF2B5EF4-FFF2-40B4-BE49-F238E27FC236}">
                <a16:creationId xmlns:a16="http://schemas.microsoft.com/office/drawing/2014/main" id="{27F516F8-416E-752B-D56E-BDEBE8B26BE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26648" y="1997427"/>
            <a:ext cx="436937" cy="436937"/>
          </a:xfrm>
          <a:prstGeom prst="rect">
            <a:avLst/>
          </a:prstGeom>
        </p:spPr>
      </p:pic>
    </p:spTree>
    <p:extLst>
      <p:ext uri="{BB962C8B-B14F-4D97-AF65-F5344CB8AC3E}">
        <p14:creationId xmlns:p14="http://schemas.microsoft.com/office/powerpoint/2010/main" val="848466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Прямоугольник 11">
            <a:extLst>
              <a:ext uri="{FF2B5EF4-FFF2-40B4-BE49-F238E27FC236}">
                <a16:creationId xmlns:a16="http://schemas.microsoft.com/office/drawing/2014/main" id="{5A34B0C1-9F64-31B3-8918-2EB9413D5CFC}"/>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574B06C7-39AC-9E43-D58C-3CFE8FE1DBD3}"/>
              </a:ext>
            </a:extLst>
          </p:cNvPr>
          <p:cNvSpPr>
            <a:spLocks noGrp="1"/>
          </p:cNvSpPr>
          <p:nvPr>
            <p:ph type="title"/>
          </p:nvPr>
        </p:nvSpPr>
        <p:spPr>
          <a:xfrm>
            <a:off x="479424" y="909140"/>
            <a:ext cx="11229975" cy="1140459"/>
          </a:xfrm>
        </p:spPr>
        <p:txBody>
          <a:bodyPr/>
          <a:lstStyle/>
          <a:p>
            <a:r>
              <a:rPr lang="ru-RU" dirty="0"/>
              <a:t>Автоматизируемые бизнес-процессы</a:t>
            </a:r>
          </a:p>
        </p:txBody>
      </p:sp>
      <p:sp>
        <p:nvSpPr>
          <p:cNvPr id="3" name="Текст 2">
            <a:extLst>
              <a:ext uri="{FF2B5EF4-FFF2-40B4-BE49-F238E27FC236}">
                <a16:creationId xmlns:a16="http://schemas.microsoft.com/office/drawing/2014/main" id="{2C8E3DF4-5020-03CB-C309-59B7B4514AA4}"/>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DE654C60-F541-62E7-941B-E471E219EE7B}"/>
              </a:ext>
            </a:extLst>
          </p:cNvPr>
          <p:cNvSpPr txBox="1"/>
          <p:nvPr/>
        </p:nvSpPr>
        <p:spPr bwMode="auto">
          <a:xfrm>
            <a:off x="557667" y="1873437"/>
            <a:ext cx="5616576" cy="400110"/>
          </a:xfrm>
          <a:prstGeom prst="rect">
            <a:avLst/>
          </a:prstGeom>
          <a:noFill/>
        </p:spPr>
        <p:txBody>
          <a:bodyPr wrap="square">
            <a:spAutoFit/>
          </a:bodyPr>
          <a:lstStyle/>
          <a:p>
            <a:pPr marL="285750" indent="-285750">
              <a:buFont typeface="Arial" panose="020B0604020202020204" pitchFamily="34" charset="0"/>
              <a:buChar char="•"/>
            </a:pPr>
            <a:r>
              <a:rPr lang="ru-RU" sz="2000" dirty="0"/>
              <a:t>Управление расписанием аудиторий;</a:t>
            </a:r>
          </a:p>
        </p:txBody>
      </p:sp>
      <p:pic>
        <p:nvPicPr>
          <p:cNvPr id="4100" name="Picture 4" descr="Сформированное изображение">
            <a:extLst>
              <a:ext uri="{FF2B5EF4-FFF2-40B4-BE49-F238E27FC236}">
                <a16:creationId xmlns:a16="http://schemas.microsoft.com/office/drawing/2014/main" id="{6CE5FF90-CF92-3316-6C2C-7B7897E7D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056" y="1585607"/>
            <a:ext cx="4533089" cy="453308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F882B69-B9CB-F1F9-79F5-71B631C878D3}"/>
              </a:ext>
            </a:extLst>
          </p:cNvPr>
          <p:cNvSpPr txBox="1"/>
          <p:nvPr/>
        </p:nvSpPr>
        <p:spPr bwMode="auto">
          <a:xfrm>
            <a:off x="11684000" y="6391475"/>
            <a:ext cx="843280" cy="369332"/>
          </a:xfrm>
          <a:prstGeom prst="rect">
            <a:avLst/>
          </a:prstGeom>
        </p:spPr>
        <p:txBody>
          <a:bodyPr wrap="square" rtlCol="0">
            <a:spAutoFit/>
          </a:bodyPr>
          <a:lstStyle/>
          <a:p>
            <a:r>
              <a:rPr lang="en-US" dirty="0"/>
              <a:t>6</a:t>
            </a:r>
            <a:endParaRPr lang="ru-RU" dirty="0"/>
          </a:p>
        </p:txBody>
      </p:sp>
      <p:sp>
        <p:nvSpPr>
          <p:cNvPr id="5" name="TextBox 4">
            <a:extLst>
              <a:ext uri="{FF2B5EF4-FFF2-40B4-BE49-F238E27FC236}">
                <a16:creationId xmlns:a16="http://schemas.microsoft.com/office/drawing/2014/main" id="{C78C1BED-5BB0-6DB9-CCA3-78B3C74E2C0C}"/>
              </a:ext>
            </a:extLst>
          </p:cNvPr>
          <p:cNvSpPr txBox="1"/>
          <p:nvPr/>
        </p:nvSpPr>
        <p:spPr bwMode="auto">
          <a:xfrm>
            <a:off x="557667" y="2374801"/>
            <a:ext cx="6263012" cy="369332"/>
          </a:xfrm>
          <a:prstGeom prst="rect">
            <a:avLst/>
          </a:prstGeom>
          <a:noFill/>
        </p:spPr>
        <p:txBody>
          <a:bodyPr wrap="square">
            <a:spAutoFit/>
          </a:bodyPr>
          <a:lstStyle/>
          <a:p>
            <a:pPr marL="285750" indent="-285750">
              <a:buFont typeface="Arial" panose="020B0604020202020204" pitchFamily="34" charset="0"/>
              <a:buChar char="•"/>
            </a:pPr>
            <a:r>
              <a:rPr lang="ru-RU" sz="1800" dirty="0"/>
              <a:t>Мониторинг доступности помещений;</a:t>
            </a:r>
          </a:p>
        </p:txBody>
      </p:sp>
      <p:sp>
        <p:nvSpPr>
          <p:cNvPr id="7" name="TextBox 6">
            <a:extLst>
              <a:ext uri="{FF2B5EF4-FFF2-40B4-BE49-F238E27FC236}">
                <a16:creationId xmlns:a16="http://schemas.microsoft.com/office/drawing/2014/main" id="{50583663-6371-B9D6-6D62-1DB826118681}"/>
              </a:ext>
            </a:extLst>
          </p:cNvPr>
          <p:cNvSpPr txBox="1"/>
          <p:nvPr/>
        </p:nvSpPr>
        <p:spPr bwMode="auto">
          <a:xfrm>
            <a:off x="557667" y="2845387"/>
            <a:ext cx="6263012" cy="369332"/>
          </a:xfrm>
          <a:prstGeom prst="rect">
            <a:avLst/>
          </a:prstGeom>
          <a:noFill/>
        </p:spPr>
        <p:txBody>
          <a:bodyPr wrap="square">
            <a:spAutoFit/>
          </a:bodyPr>
          <a:lstStyle/>
          <a:p>
            <a:pPr marL="285750" indent="-285750">
              <a:buFont typeface="Arial" panose="020B0604020202020204" pitchFamily="34" charset="0"/>
              <a:buChar char="•"/>
            </a:pPr>
            <a:r>
              <a:rPr lang="ru-RU" sz="1800" dirty="0"/>
              <a:t>Бронирование свободных аудиторий;</a:t>
            </a:r>
          </a:p>
        </p:txBody>
      </p:sp>
      <p:sp>
        <p:nvSpPr>
          <p:cNvPr id="11" name="TextBox 10">
            <a:extLst>
              <a:ext uri="{FF2B5EF4-FFF2-40B4-BE49-F238E27FC236}">
                <a16:creationId xmlns:a16="http://schemas.microsoft.com/office/drawing/2014/main" id="{0B3FC579-8D8E-5A5E-3996-0C0B1E59F280}"/>
              </a:ext>
            </a:extLst>
          </p:cNvPr>
          <p:cNvSpPr txBox="1"/>
          <p:nvPr/>
        </p:nvSpPr>
        <p:spPr bwMode="auto">
          <a:xfrm>
            <a:off x="557667" y="3337031"/>
            <a:ext cx="6263012" cy="369332"/>
          </a:xfrm>
          <a:prstGeom prst="rect">
            <a:avLst/>
          </a:prstGeom>
          <a:noFill/>
        </p:spPr>
        <p:txBody>
          <a:bodyPr wrap="square">
            <a:spAutoFit/>
          </a:bodyPr>
          <a:lstStyle/>
          <a:p>
            <a:pPr marL="285750" indent="-285750">
              <a:buFont typeface="Arial" panose="020B0604020202020204" pitchFamily="34" charset="0"/>
              <a:buChar char="•"/>
            </a:pPr>
            <a:r>
              <a:rPr lang="ru-RU" sz="1800" dirty="0"/>
              <a:t>Отправка </a:t>
            </a:r>
            <a:r>
              <a:rPr lang="ru-RU" sz="1800" dirty="0" err="1"/>
              <a:t>push</a:t>
            </a:r>
            <a:r>
              <a:rPr lang="ru-RU" sz="1800" dirty="0"/>
              <a:t>-уведомлений преподавателям;</a:t>
            </a:r>
          </a:p>
        </p:txBody>
      </p:sp>
      <p:sp>
        <p:nvSpPr>
          <p:cNvPr id="13" name="TextBox 12">
            <a:extLst>
              <a:ext uri="{FF2B5EF4-FFF2-40B4-BE49-F238E27FC236}">
                <a16:creationId xmlns:a16="http://schemas.microsoft.com/office/drawing/2014/main" id="{7BCD64DF-CF14-F2CC-DDC9-D3E3E2F78D81}"/>
              </a:ext>
            </a:extLst>
          </p:cNvPr>
          <p:cNvSpPr txBox="1"/>
          <p:nvPr/>
        </p:nvSpPr>
        <p:spPr bwMode="auto">
          <a:xfrm>
            <a:off x="557667" y="3834187"/>
            <a:ext cx="6263012" cy="369332"/>
          </a:xfrm>
          <a:prstGeom prst="rect">
            <a:avLst/>
          </a:prstGeom>
          <a:noFill/>
        </p:spPr>
        <p:txBody>
          <a:bodyPr wrap="square">
            <a:spAutoFit/>
          </a:bodyPr>
          <a:lstStyle/>
          <a:p>
            <a:pPr marL="285750" indent="-285750">
              <a:buFont typeface="Arial" panose="020B0604020202020204" pitchFamily="34" charset="0"/>
              <a:buChar char="•"/>
            </a:pPr>
            <a:r>
              <a:rPr lang="ru-RU" sz="1800" dirty="0"/>
              <a:t>Ведение истории использования аудиторий;</a:t>
            </a:r>
          </a:p>
        </p:txBody>
      </p:sp>
      <p:sp>
        <p:nvSpPr>
          <p:cNvPr id="15" name="TextBox 14">
            <a:extLst>
              <a:ext uri="{FF2B5EF4-FFF2-40B4-BE49-F238E27FC236}">
                <a16:creationId xmlns:a16="http://schemas.microsoft.com/office/drawing/2014/main" id="{1B0BEE52-D6A7-B0F5-1E06-07B8FB92282A}"/>
              </a:ext>
            </a:extLst>
          </p:cNvPr>
          <p:cNvSpPr txBox="1"/>
          <p:nvPr/>
        </p:nvSpPr>
        <p:spPr bwMode="auto">
          <a:xfrm>
            <a:off x="557667" y="4233797"/>
            <a:ext cx="6263012" cy="646331"/>
          </a:xfrm>
          <a:prstGeom prst="rect">
            <a:avLst/>
          </a:prstGeom>
          <a:noFill/>
        </p:spPr>
        <p:txBody>
          <a:bodyPr wrap="square">
            <a:spAutoFit/>
          </a:bodyPr>
          <a:lstStyle/>
          <a:p>
            <a:pPr marL="285750" indent="-285750">
              <a:buFont typeface="Arial" panose="020B0604020202020204" pitchFamily="34" charset="0"/>
              <a:buChar char="•"/>
            </a:pPr>
            <a:r>
              <a:rPr lang="ru-RU" sz="1800" dirty="0"/>
              <a:t>Формирование отчетности о занятости кабинетов;</a:t>
            </a:r>
          </a:p>
        </p:txBody>
      </p:sp>
      <p:sp>
        <p:nvSpPr>
          <p:cNvPr id="17" name="TextBox 16">
            <a:extLst>
              <a:ext uri="{FF2B5EF4-FFF2-40B4-BE49-F238E27FC236}">
                <a16:creationId xmlns:a16="http://schemas.microsoft.com/office/drawing/2014/main" id="{BF229884-F516-FC2A-C9B0-93FF86C2948F}"/>
              </a:ext>
            </a:extLst>
          </p:cNvPr>
          <p:cNvSpPr txBox="1"/>
          <p:nvPr/>
        </p:nvSpPr>
        <p:spPr bwMode="auto">
          <a:xfrm>
            <a:off x="557667" y="4967580"/>
            <a:ext cx="6263012" cy="369332"/>
          </a:xfrm>
          <a:prstGeom prst="rect">
            <a:avLst/>
          </a:prstGeom>
          <a:noFill/>
        </p:spPr>
        <p:txBody>
          <a:bodyPr wrap="square">
            <a:spAutoFit/>
          </a:bodyPr>
          <a:lstStyle/>
          <a:p>
            <a:pPr marL="285750" indent="-285750">
              <a:buFont typeface="Arial" panose="020B0604020202020204" pitchFamily="34" charset="0"/>
              <a:buChar char="•"/>
            </a:pPr>
            <a:r>
              <a:rPr lang="ru-RU" sz="1800" dirty="0"/>
              <a:t>Анализ загруженности аудиторий;</a:t>
            </a:r>
          </a:p>
        </p:txBody>
      </p:sp>
      <p:sp>
        <p:nvSpPr>
          <p:cNvPr id="19" name="TextBox 18">
            <a:extLst>
              <a:ext uri="{FF2B5EF4-FFF2-40B4-BE49-F238E27FC236}">
                <a16:creationId xmlns:a16="http://schemas.microsoft.com/office/drawing/2014/main" id="{F3BDE914-7C9C-27A5-3907-A1D51F7E043E}"/>
              </a:ext>
            </a:extLst>
          </p:cNvPr>
          <p:cNvSpPr txBox="1"/>
          <p:nvPr/>
        </p:nvSpPr>
        <p:spPr bwMode="auto">
          <a:xfrm>
            <a:off x="557667" y="5472365"/>
            <a:ext cx="6263012" cy="646331"/>
          </a:xfrm>
          <a:prstGeom prst="rect">
            <a:avLst/>
          </a:prstGeom>
          <a:noFill/>
        </p:spPr>
        <p:txBody>
          <a:bodyPr wrap="square">
            <a:spAutoFit/>
          </a:bodyPr>
          <a:lstStyle/>
          <a:p>
            <a:pPr marL="285750" indent="-285750">
              <a:buFont typeface="Arial" panose="020B0604020202020204" pitchFamily="34" charset="0"/>
              <a:buChar char="•"/>
            </a:pPr>
            <a:r>
              <a:rPr lang="ru-RU" sz="1800" dirty="0"/>
              <a:t>Обновление статуса помещений в реальном времени;</a:t>
            </a:r>
          </a:p>
        </p:txBody>
      </p:sp>
      <p:pic>
        <p:nvPicPr>
          <p:cNvPr id="4" name="Рисунок 3">
            <a:extLst>
              <a:ext uri="{FF2B5EF4-FFF2-40B4-BE49-F238E27FC236}">
                <a16:creationId xmlns:a16="http://schemas.microsoft.com/office/drawing/2014/main" id="{00DE50DE-1656-E30D-BF26-EFFB4478CB3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619" y="590150"/>
            <a:ext cx="11574779" cy="6232425"/>
          </a:xfrm>
          <a:prstGeom prst="rect">
            <a:avLst/>
          </a:prstGeom>
          <a:noFill/>
          <a:ln>
            <a:noFill/>
          </a:ln>
        </p:spPr>
      </p:pic>
    </p:spTree>
    <p:extLst>
      <p:ext uri="{BB962C8B-B14F-4D97-AF65-F5344CB8AC3E}">
        <p14:creationId xmlns:p14="http://schemas.microsoft.com/office/powerpoint/2010/main" val="2588463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2D1E4B02-E0F5-D847-2F77-3B7DCD73E009}"/>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Текст 2">
            <a:extLst>
              <a:ext uri="{FF2B5EF4-FFF2-40B4-BE49-F238E27FC236}">
                <a16:creationId xmlns:a16="http://schemas.microsoft.com/office/drawing/2014/main" id="{B545DFD4-2E38-4583-CC4B-5B6BC94D32BB}"/>
              </a:ext>
            </a:extLst>
          </p:cNvPr>
          <p:cNvSpPr>
            <a:spLocks noGrp="1"/>
          </p:cNvSpPr>
          <p:nvPr>
            <p:ph type="body" sz="quarter" idx="19"/>
          </p:nvPr>
        </p:nvSpPr>
        <p:spPr/>
        <p:txBody>
          <a:bodyPr/>
          <a:lstStyle/>
          <a:p>
            <a:endParaRPr lang="ru-RU"/>
          </a:p>
        </p:txBody>
      </p:sp>
      <p:sp>
        <p:nvSpPr>
          <p:cNvPr id="4" name="TextBox 3">
            <a:extLst>
              <a:ext uri="{FF2B5EF4-FFF2-40B4-BE49-F238E27FC236}">
                <a16:creationId xmlns:a16="http://schemas.microsoft.com/office/drawing/2014/main" id="{B654C01A-7EAE-433C-542F-5134AC99026D}"/>
              </a:ext>
            </a:extLst>
          </p:cNvPr>
          <p:cNvSpPr txBox="1"/>
          <p:nvPr/>
        </p:nvSpPr>
        <p:spPr bwMode="auto">
          <a:xfrm>
            <a:off x="11684000" y="6391475"/>
            <a:ext cx="843280" cy="369332"/>
          </a:xfrm>
          <a:prstGeom prst="rect">
            <a:avLst/>
          </a:prstGeom>
        </p:spPr>
        <p:txBody>
          <a:bodyPr wrap="square" rtlCol="0">
            <a:spAutoFit/>
          </a:bodyPr>
          <a:lstStyle/>
          <a:p>
            <a:r>
              <a:rPr lang="en-US" dirty="0"/>
              <a:t>7</a:t>
            </a:r>
            <a:endParaRPr lang="ru-RU" dirty="0"/>
          </a:p>
        </p:txBody>
      </p:sp>
      <p:pic>
        <p:nvPicPr>
          <p:cNvPr id="10" name="Рисунок 9">
            <a:extLst>
              <a:ext uri="{FF2B5EF4-FFF2-40B4-BE49-F238E27FC236}">
                <a16:creationId xmlns:a16="http://schemas.microsoft.com/office/drawing/2014/main" id="{35090F1F-3398-9B67-DF2B-6E7AAFA2B5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424" y="592969"/>
            <a:ext cx="11130694" cy="6265031"/>
          </a:xfrm>
          <a:prstGeom prst="rect">
            <a:avLst/>
          </a:prstGeom>
          <a:noFill/>
          <a:ln>
            <a:noFill/>
          </a:ln>
        </p:spPr>
      </p:pic>
    </p:spTree>
    <p:extLst>
      <p:ext uri="{BB962C8B-B14F-4D97-AF65-F5344CB8AC3E}">
        <p14:creationId xmlns:p14="http://schemas.microsoft.com/office/powerpoint/2010/main" val="2747935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878E3C28-C605-25F9-6150-F8838B989FFA}"/>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C70F517B-88DC-10EF-D743-D14986297EA5}"/>
              </a:ext>
            </a:extLst>
          </p:cNvPr>
          <p:cNvSpPr>
            <a:spLocks noGrp="1"/>
          </p:cNvSpPr>
          <p:nvPr>
            <p:ph type="title"/>
          </p:nvPr>
        </p:nvSpPr>
        <p:spPr>
          <a:xfrm>
            <a:off x="3105892" y="814164"/>
            <a:ext cx="5794917" cy="1140459"/>
          </a:xfrm>
        </p:spPr>
        <p:txBody>
          <a:bodyPr/>
          <a:lstStyle/>
          <a:p>
            <a:r>
              <a:rPr lang="ru-RU" dirty="0"/>
              <a:t>Дата-логическая модель</a:t>
            </a:r>
          </a:p>
        </p:txBody>
      </p:sp>
      <p:sp>
        <p:nvSpPr>
          <p:cNvPr id="3" name="Текст 2">
            <a:extLst>
              <a:ext uri="{FF2B5EF4-FFF2-40B4-BE49-F238E27FC236}">
                <a16:creationId xmlns:a16="http://schemas.microsoft.com/office/drawing/2014/main" id="{4D2178AE-07F3-1E2F-D5B2-EC6CAB82D369}"/>
              </a:ext>
            </a:extLst>
          </p:cNvPr>
          <p:cNvSpPr>
            <a:spLocks noGrp="1"/>
          </p:cNvSpPr>
          <p:nvPr>
            <p:ph type="body" sz="quarter" idx="19"/>
          </p:nvPr>
        </p:nvSpPr>
        <p:spPr/>
        <p:txBody>
          <a:bodyPr/>
          <a:lstStyle/>
          <a:p>
            <a:endParaRPr lang="ru-RU"/>
          </a:p>
        </p:txBody>
      </p:sp>
      <p:pic>
        <p:nvPicPr>
          <p:cNvPr id="9" name="Рисунок 8">
            <a:extLst>
              <a:ext uri="{FF2B5EF4-FFF2-40B4-BE49-F238E27FC236}">
                <a16:creationId xmlns:a16="http://schemas.microsoft.com/office/drawing/2014/main" id="{6519C8F9-F4DA-E866-A512-01975EA26027}"/>
              </a:ext>
            </a:extLst>
          </p:cNvPr>
          <p:cNvPicPr>
            <a:picLocks noChangeAspect="1"/>
          </p:cNvPicPr>
          <p:nvPr/>
        </p:nvPicPr>
        <p:blipFill>
          <a:blip r:embed="rId2"/>
          <a:stretch>
            <a:fillRect/>
          </a:stretch>
        </p:blipFill>
        <p:spPr>
          <a:xfrm>
            <a:off x="2360374" y="1384394"/>
            <a:ext cx="7468074" cy="4814444"/>
          </a:xfrm>
          <a:prstGeom prst="rect">
            <a:avLst/>
          </a:prstGeom>
        </p:spPr>
      </p:pic>
      <p:pic>
        <p:nvPicPr>
          <p:cNvPr id="4" name="Рисунок 3">
            <a:extLst>
              <a:ext uri="{FF2B5EF4-FFF2-40B4-BE49-F238E27FC236}">
                <a16:creationId xmlns:a16="http://schemas.microsoft.com/office/drawing/2014/main" id="{84ACD0C9-A376-AC09-392B-26D51C34FD8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653" y="659161"/>
            <a:ext cx="11013094" cy="6198839"/>
          </a:xfrm>
          <a:prstGeom prst="rect">
            <a:avLst/>
          </a:prstGeom>
          <a:noFill/>
          <a:ln>
            <a:noFill/>
          </a:ln>
        </p:spPr>
      </p:pic>
      <p:sp>
        <p:nvSpPr>
          <p:cNvPr id="8" name="TextBox 7">
            <a:extLst>
              <a:ext uri="{FF2B5EF4-FFF2-40B4-BE49-F238E27FC236}">
                <a16:creationId xmlns:a16="http://schemas.microsoft.com/office/drawing/2014/main" id="{959AF8D8-3F7D-0EB7-41BE-0D23C9BA00E2}"/>
              </a:ext>
            </a:extLst>
          </p:cNvPr>
          <p:cNvSpPr txBox="1"/>
          <p:nvPr/>
        </p:nvSpPr>
        <p:spPr bwMode="auto">
          <a:xfrm>
            <a:off x="11684000" y="6391475"/>
            <a:ext cx="843280" cy="369332"/>
          </a:xfrm>
          <a:prstGeom prst="rect">
            <a:avLst/>
          </a:prstGeom>
        </p:spPr>
        <p:txBody>
          <a:bodyPr wrap="square" rtlCol="0">
            <a:spAutoFit/>
          </a:bodyPr>
          <a:lstStyle/>
          <a:p>
            <a:r>
              <a:rPr lang="en-US" dirty="0"/>
              <a:t>8</a:t>
            </a:r>
            <a:endParaRPr lang="ru-RU" dirty="0"/>
          </a:p>
        </p:txBody>
      </p:sp>
    </p:spTree>
    <p:extLst>
      <p:ext uri="{BB962C8B-B14F-4D97-AF65-F5344CB8AC3E}">
        <p14:creationId xmlns:p14="http://schemas.microsoft.com/office/powerpoint/2010/main" val="2867406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183E07-6D7C-54D7-3CF2-719B492CCB2A}"/>
              </a:ext>
            </a:extLst>
          </p:cNvPr>
          <p:cNvSpPr>
            <a:spLocks noGrp="1"/>
          </p:cNvSpPr>
          <p:nvPr>
            <p:ph type="title"/>
          </p:nvPr>
        </p:nvSpPr>
        <p:spPr>
          <a:xfrm>
            <a:off x="601344" y="2858770"/>
            <a:ext cx="11229975" cy="1140459"/>
          </a:xfrm>
        </p:spPr>
        <p:txBody>
          <a:bodyPr/>
          <a:lstStyle/>
          <a:p>
            <a:r>
              <a:rPr lang="ru-RU" dirty="0"/>
              <a:t>Демонстрация реализованного прикладного решения</a:t>
            </a:r>
          </a:p>
        </p:txBody>
      </p:sp>
      <p:sp>
        <p:nvSpPr>
          <p:cNvPr id="3" name="Текст 2">
            <a:extLst>
              <a:ext uri="{FF2B5EF4-FFF2-40B4-BE49-F238E27FC236}">
                <a16:creationId xmlns:a16="http://schemas.microsoft.com/office/drawing/2014/main" id="{544682B2-438A-2302-8929-5F5ADB97AD3E}"/>
              </a:ext>
            </a:extLst>
          </p:cNvPr>
          <p:cNvSpPr>
            <a:spLocks noGrp="1"/>
          </p:cNvSpPr>
          <p:nvPr>
            <p:ph type="body" sz="quarter" idx="19"/>
          </p:nvPr>
        </p:nvSpPr>
        <p:spPr/>
        <p:txBody>
          <a:bodyPr/>
          <a:lstStyle/>
          <a:p>
            <a:endParaRPr lang="ru-RU"/>
          </a:p>
        </p:txBody>
      </p:sp>
      <p:sp>
        <p:nvSpPr>
          <p:cNvPr id="4" name="TextBox 3">
            <a:extLst>
              <a:ext uri="{FF2B5EF4-FFF2-40B4-BE49-F238E27FC236}">
                <a16:creationId xmlns:a16="http://schemas.microsoft.com/office/drawing/2014/main" id="{5EBB4D13-6D0C-7753-0650-328FC9DADA82}"/>
              </a:ext>
            </a:extLst>
          </p:cNvPr>
          <p:cNvSpPr txBox="1"/>
          <p:nvPr/>
        </p:nvSpPr>
        <p:spPr bwMode="auto">
          <a:xfrm>
            <a:off x="11684000" y="6391475"/>
            <a:ext cx="843280" cy="369332"/>
          </a:xfrm>
          <a:prstGeom prst="rect">
            <a:avLst/>
          </a:prstGeom>
        </p:spPr>
        <p:txBody>
          <a:bodyPr wrap="square" rtlCol="0">
            <a:spAutoFit/>
          </a:bodyPr>
          <a:lstStyle/>
          <a:p>
            <a:r>
              <a:rPr lang="ru-RU" dirty="0"/>
              <a:t>9</a:t>
            </a:r>
          </a:p>
        </p:txBody>
      </p:sp>
    </p:spTree>
    <p:extLst>
      <p:ext uri="{BB962C8B-B14F-4D97-AF65-F5344CB8AC3E}">
        <p14:creationId xmlns:p14="http://schemas.microsoft.com/office/powerpoint/2010/main" val="78786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56C0A8-5317-0EE2-A979-A9A294F3D112}"/>
              </a:ext>
            </a:extLst>
          </p:cNvPr>
          <p:cNvSpPr>
            <a:spLocks noGrp="1"/>
          </p:cNvSpPr>
          <p:nvPr>
            <p:ph type="title"/>
          </p:nvPr>
        </p:nvSpPr>
        <p:spPr/>
        <p:txBody>
          <a:bodyPr/>
          <a:lstStyle/>
          <a:p>
            <a:endParaRPr lang="ru-RU" dirty="0"/>
          </a:p>
        </p:txBody>
      </p:sp>
      <p:sp>
        <p:nvSpPr>
          <p:cNvPr id="3" name="Текст 2">
            <a:extLst>
              <a:ext uri="{FF2B5EF4-FFF2-40B4-BE49-F238E27FC236}">
                <a16:creationId xmlns:a16="http://schemas.microsoft.com/office/drawing/2014/main" id="{CD03AADF-D6E6-9061-3251-001BF49EC8AF}"/>
              </a:ext>
            </a:extLst>
          </p:cNvPr>
          <p:cNvSpPr>
            <a:spLocks noGrp="1"/>
          </p:cNvSpPr>
          <p:nvPr>
            <p:ph type="body" sz="quarter" idx="19"/>
          </p:nvPr>
        </p:nvSpPr>
        <p:spPr/>
        <p:txBody>
          <a:bodyPr/>
          <a:lstStyle/>
          <a:p>
            <a:endParaRPr lang="ru-RU"/>
          </a:p>
        </p:txBody>
      </p:sp>
      <p:pic>
        <p:nvPicPr>
          <p:cNvPr id="5" name="Рисунок 4">
            <a:extLst>
              <a:ext uri="{FF2B5EF4-FFF2-40B4-BE49-F238E27FC236}">
                <a16:creationId xmlns:a16="http://schemas.microsoft.com/office/drawing/2014/main" id="{7730CD0C-921C-DED1-2993-930384C114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2744" y="597855"/>
            <a:ext cx="9782093" cy="3163895"/>
          </a:xfrm>
          <a:prstGeom prst="rect">
            <a:avLst/>
          </a:prstGeom>
        </p:spPr>
      </p:pic>
      <p:pic>
        <p:nvPicPr>
          <p:cNvPr id="9" name="Рисунок 8">
            <a:extLst>
              <a:ext uri="{FF2B5EF4-FFF2-40B4-BE49-F238E27FC236}">
                <a16:creationId xmlns:a16="http://schemas.microsoft.com/office/drawing/2014/main" id="{48B7BD39-5B9A-1591-5276-09743C57BB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744" y="3820654"/>
            <a:ext cx="9782093" cy="2980481"/>
          </a:xfrm>
          <a:prstGeom prst="rect">
            <a:avLst/>
          </a:prstGeom>
        </p:spPr>
      </p:pic>
      <p:sp>
        <p:nvSpPr>
          <p:cNvPr id="16" name="TextBox 15">
            <a:extLst>
              <a:ext uri="{FF2B5EF4-FFF2-40B4-BE49-F238E27FC236}">
                <a16:creationId xmlns:a16="http://schemas.microsoft.com/office/drawing/2014/main" id="{FBA301D5-E188-2CC5-8C19-066B0B06AB69}"/>
              </a:ext>
            </a:extLst>
          </p:cNvPr>
          <p:cNvSpPr txBox="1"/>
          <p:nvPr/>
        </p:nvSpPr>
        <p:spPr bwMode="auto">
          <a:xfrm>
            <a:off x="11684000" y="6391475"/>
            <a:ext cx="843280" cy="369332"/>
          </a:xfrm>
          <a:prstGeom prst="rect">
            <a:avLst/>
          </a:prstGeom>
        </p:spPr>
        <p:txBody>
          <a:bodyPr wrap="square" rtlCol="0">
            <a:spAutoFit/>
          </a:bodyPr>
          <a:lstStyle/>
          <a:p>
            <a:r>
              <a:rPr lang="ru-RU" dirty="0"/>
              <a:t>10</a:t>
            </a:r>
          </a:p>
        </p:txBody>
      </p:sp>
    </p:spTree>
    <p:extLst>
      <p:ext uri="{BB962C8B-B14F-4D97-AF65-F5344CB8AC3E}">
        <p14:creationId xmlns:p14="http://schemas.microsoft.com/office/powerpoint/2010/main" val="275789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C3BD8BBE-26DC-D08E-2CBD-2163624A1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711" y="843746"/>
            <a:ext cx="6315124" cy="2585254"/>
          </a:xfrm>
          <a:prstGeom prst="rect">
            <a:avLst/>
          </a:prstGeom>
        </p:spPr>
      </p:pic>
      <p:pic>
        <p:nvPicPr>
          <p:cNvPr id="7" name="Рисунок 6">
            <a:extLst>
              <a:ext uri="{FF2B5EF4-FFF2-40B4-BE49-F238E27FC236}">
                <a16:creationId xmlns:a16="http://schemas.microsoft.com/office/drawing/2014/main" id="{DC320FF6-7BC9-23C3-3DDC-695798822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3389" y="3535658"/>
            <a:ext cx="8160153" cy="3142934"/>
          </a:xfrm>
          <a:prstGeom prst="rect">
            <a:avLst/>
          </a:prstGeom>
        </p:spPr>
      </p:pic>
      <p:sp>
        <p:nvSpPr>
          <p:cNvPr id="8" name="TextBox 7">
            <a:extLst>
              <a:ext uri="{FF2B5EF4-FFF2-40B4-BE49-F238E27FC236}">
                <a16:creationId xmlns:a16="http://schemas.microsoft.com/office/drawing/2014/main" id="{E832DD4D-8A83-760A-78AA-A3869E846122}"/>
              </a:ext>
            </a:extLst>
          </p:cNvPr>
          <p:cNvSpPr txBox="1"/>
          <p:nvPr/>
        </p:nvSpPr>
        <p:spPr bwMode="auto">
          <a:xfrm>
            <a:off x="11684000" y="6391475"/>
            <a:ext cx="843280" cy="369332"/>
          </a:xfrm>
          <a:prstGeom prst="rect">
            <a:avLst/>
          </a:prstGeom>
        </p:spPr>
        <p:txBody>
          <a:bodyPr wrap="square" rtlCol="0">
            <a:spAutoFit/>
          </a:bodyPr>
          <a:lstStyle/>
          <a:p>
            <a:r>
              <a:rPr lang="ru-RU" dirty="0"/>
              <a:t>11</a:t>
            </a:r>
          </a:p>
        </p:txBody>
      </p:sp>
    </p:spTree>
    <p:extLst>
      <p:ext uri="{BB962C8B-B14F-4D97-AF65-F5344CB8AC3E}">
        <p14:creationId xmlns:p14="http://schemas.microsoft.com/office/powerpoint/2010/main" val="326331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61BC-9CC7-D4EC-1C5E-6176CB5E4BD4}"/>
            </a:ext>
          </a:extLst>
        </p:cNvPr>
        <p:cNvGrpSpPr/>
        <p:nvPr/>
      </p:nvGrpSpPr>
      <p:grpSpPr>
        <a:xfrm>
          <a:off x="0" y="0"/>
          <a:ext cx="0" cy="0"/>
          <a:chOff x="0" y="0"/>
          <a:chExt cx="0" cy="0"/>
        </a:xfrm>
      </p:grpSpPr>
      <p:sp>
        <p:nvSpPr>
          <p:cNvPr id="15" name="Прямоугольник 14">
            <a:extLst>
              <a:ext uri="{FF2B5EF4-FFF2-40B4-BE49-F238E27FC236}">
                <a16:creationId xmlns:a16="http://schemas.microsoft.com/office/drawing/2014/main" id="{E0D13905-932B-D798-A7D5-BCD5DEDB50AC}"/>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Рисунок 4">
            <a:extLst>
              <a:ext uri="{FF2B5EF4-FFF2-40B4-BE49-F238E27FC236}">
                <a16:creationId xmlns:a16="http://schemas.microsoft.com/office/drawing/2014/main" id="{0B5BCA5D-D75D-B994-44B4-32FAB5B9DC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96" y="664217"/>
            <a:ext cx="2720051" cy="6044558"/>
          </a:xfrm>
          <a:prstGeom prst="rect">
            <a:avLst/>
          </a:prstGeom>
        </p:spPr>
      </p:pic>
      <p:pic>
        <p:nvPicPr>
          <p:cNvPr id="7" name="Рисунок 6">
            <a:extLst>
              <a:ext uri="{FF2B5EF4-FFF2-40B4-BE49-F238E27FC236}">
                <a16:creationId xmlns:a16="http://schemas.microsoft.com/office/drawing/2014/main" id="{C206DDEE-372E-56B5-4919-C637B1249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6529" y="664217"/>
            <a:ext cx="2720051" cy="6044558"/>
          </a:xfrm>
          <a:prstGeom prst="rect">
            <a:avLst/>
          </a:prstGeom>
        </p:spPr>
      </p:pic>
      <p:pic>
        <p:nvPicPr>
          <p:cNvPr id="11" name="Рисунок 10">
            <a:extLst>
              <a:ext uri="{FF2B5EF4-FFF2-40B4-BE49-F238E27FC236}">
                <a16:creationId xmlns:a16="http://schemas.microsoft.com/office/drawing/2014/main" id="{6318A9E7-838A-B92D-2247-E9EDE8CDD8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1795" y="664217"/>
            <a:ext cx="2720051" cy="6044558"/>
          </a:xfrm>
          <a:prstGeom prst="rect">
            <a:avLst/>
          </a:prstGeom>
        </p:spPr>
      </p:pic>
      <p:pic>
        <p:nvPicPr>
          <p:cNvPr id="13" name="Рисунок 12">
            <a:extLst>
              <a:ext uri="{FF2B5EF4-FFF2-40B4-BE49-F238E27FC236}">
                <a16:creationId xmlns:a16="http://schemas.microsoft.com/office/drawing/2014/main" id="{BE20C59F-D107-88F7-87AB-CAC5A4C0B8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4162" y="664217"/>
            <a:ext cx="2720051" cy="6044558"/>
          </a:xfrm>
          <a:prstGeom prst="rect">
            <a:avLst/>
          </a:prstGeom>
        </p:spPr>
      </p:pic>
      <p:sp>
        <p:nvSpPr>
          <p:cNvPr id="14" name="TextBox 13">
            <a:extLst>
              <a:ext uri="{FF2B5EF4-FFF2-40B4-BE49-F238E27FC236}">
                <a16:creationId xmlns:a16="http://schemas.microsoft.com/office/drawing/2014/main" id="{74A383A7-5BDA-3648-5B84-C451141A2F38}"/>
              </a:ext>
            </a:extLst>
          </p:cNvPr>
          <p:cNvSpPr txBox="1"/>
          <p:nvPr/>
        </p:nvSpPr>
        <p:spPr bwMode="auto">
          <a:xfrm>
            <a:off x="11684000" y="6391475"/>
            <a:ext cx="843280" cy="369332"/>
          </a:xfrm>
          <a:prstGeom prst="rect">
            <a:avLst/>
          </a:prstGeom>
        </p:spPr>
        <p:txBody>
          <a:bodyPr wrap="square" rtlCol="0">
            <a:spAutoFit/>
          </a:bodyPr>
          <a:lstStyle/>
          <a:p>
            <a:r>
              <a:rPr lang="ru-RU" dirty="0"/>
              <a:t>12</a:t>
            </a:r>
          </a:p>
        </p:txBody>
      </p:sp>
    </p:spTree>
    <p:extLst>
      <p:ext uri="{BB962C8B-B14F-4D97-AF65-F5344CB8AC3E}">
        <p14:creationId xmlns:p14="http://schemas.microsoft.com/office/powerpoint/2010/main" val="3712265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185CAF-EAF4-FB45-4DBB-8874C748041D}"/>
              </a:ext>
            </a:extLst>
          </p:cNvPr>
          <p:cNvSpPr>
            <a:spLocks noGrp="1"/>
          </p:cNvSpPr>
          <p:nvPr>
            <p:ph type="title"/>
          </p:nvPr>
        </p:nvSpPr>
        <p:spPr>
          <a:xfrm>
            <a:off x="479422" y="677455"/>
            <a:ext cx="11229975" cy="1140459"/>
          </a:xfrm>
        </p:spPr>
        <p:txBody>
          <a:bodyPr/>
          <a:lstStyle/>
          <a:p>
            <a:r>
              <a:rPr lang="ru-RU" dirty="0"/>
              <a:t>Карта тестирования</a:t>
            </a:r>
          </a:p>
        </p:txBody>
      </p:sp>
      <p:sp>
        <p:nvSpPr>
          <p:cNvPr id="3" name="Текст 2">
            <a:extLst>
              <a:ext uri="{FF2B5EF4-FFF2-40B4-BE49-F238E27FC236}">
                <a16:creationId xmlns:a16="http://schemas.microsoft.com/office/drawing/2014/main" id="{B061F20A-ED96-01E1-4EDC-E42BA1418839}"/>
              </a:ext>
            </a:extLst>
          </p:cNvPr>
          <p:cNvSpPr>
            <a:spLocks noGrp="1"/>
          </p:cNvSpPr>
          <p:nvPr>
            <p:ph type="body" sz="quarter" idx="19"/>
          </p:nvPr>
        </p:nvSpPr>
        <p:spPr/>
        <p:txBody>
          <a:bodyPr/>
          <a:lstStyle/>
          <a:p>
            <a:endParaRPr lang="ru-RU"/>
          </a:p>
        </p:txBody>
      </p:sp>
      <p:graphicFrame>
        <p:nvGraphicFramePr>
          <p:cNvPr id="4" name="Таблица 3">
            <a:extLst>
              <a:ext uri="{FF2B5EF4-FFF2-40B4-BE49-F238E27FC236}">
                <a16:creationId xmlns:a16="http://schemas.microsoft.com/office/drawing/2014/main" id="{00108F39-9CB9-EB84-0897-7BC764A06A7A}"/>
              </a:ext>
            </a:extLst>
          </p:cNvPr>
          <p:cNvGraphicFramePr>
            <a:graphicFrameLocks noGrp="1"/>
          </p:cNvGraphicFramePr>
          <p:nvPr>
            <p:extLst>
              <p:ext uri="{D42A27DB-BD31-4B8C-83A1-F6EECF244321}">
                <p14:modId xmlns:p14="http://schemas.microsoft.com/office/powerpoint/2010/main" val="2929838028"/>
              </p:ext>
            </p:extLst>
          </p:nvPr>
        </p:nvGraphicFramePr>
        <p:xfrm>
          <a:off x="479423" y="1335233"/>
          <a:ext cx="11229975" cy="5183641"/>
        </p:xfrm>
        <a:graphic>
          <a:graphicData uri="http://schemas.openxmlformats.org/drawingml/2006/table">
            <a:tbl>
              <a:tblPr firstRow="1" bandRow="1">
                <a:tableStyleId>{0E3FDE45-AF77-4B5C-9715-49D594BDF05E}</a:tableStyleId>
              </a:tblPr>
              <a:tblGrid>
                <a:gridCol w="3743325">
                  <a:extLst>
                    <a:ext uri="{9D8B030D-6E8A-4147-A177-3AD203B41FA5}">
                      <a16:colId xmlns:a16="http://schemas.microsoft.com/office/drawing/2014/main" val="1960013004"/>
                    </a:ext>
                  </a:extLst>
                </a:gridCol>
                <a:gridCol w="3743325">
                  <a:extLst>
                    <a:ext uri="{9D8B030D-6E8A-4147-A177-3AD203B41FA5}">
                      <a16:colId xmlns:a16="http://schemas.microsoft.com/office/drawing/2014/main" val="590774154"/>
                    </a:ext>
                  </a:extLst>
                </a:gridCol>
                <a:gridCol w="3743325">
                  <a:extLst>
                    <a:ext uri="{9D8B030D-6E8A-4147-A177-3AD203B41FA5}">
                      <a16:colId xmlns:a16="http://schemas.microsoft.com/office/drawing/2014/main" val="2924743004"/>
                    </a:ext>
                  </a:extLst>
                </a:gridCol>
              </a:tblGrid>
              <a:tr h="489721">
                <a:tc>
                  <a:txBody>
                    <a:bodyPr/>
                    <a:lstStyle/>
                    <a:p>
                      <a:r>
                        <a:rPr lang="ru-RU" sz="1600" dirty="0"/>
                        <a:t>Действие</a:t>
                      </a:r>
                    </a:p>
                  </a:txBody>
                  <a:tcPr/>
                </a:tc>
                <a:tc>
                  <a:txBody>
                    <a:bodyPr/>
                    <a:lstStyle/>
                    <a:p>
                      <a:r>
                        <a:rPr lang="ru-RU" sz="1600" b="1" dirty="0"/>
                        <a:t>Что должно быть</a:t>
                      </a:r>
                      <a:endParaRPr lang="ru-RU" sz="1600" dirty="0"/>
                    </a:p>
                  </a:txBody>
                  <a:tcPr anchor="ctr"/>
                </a:tc>
                <a:tc>
                  <a:txBody>
                    <a:bodyPr/>
                    <a:lstStyle/>
                    <a:p>
                      <a:r>
                        <a:rPr lang="ru-RU" sz="1600" b="1" dirty="0"/>
                        <a:t>Что получилось</a:t>
                      </a:r>
                      <a:endParaRPr lang="ru-RU" sz="1600" dirty="0"/>
                    </a:p>
                  </a:txBody>
                  <a:tcPr anchor="ctr"/>
                </a:tc>
                <a:extLst>
                  <a:ext uri="{0D108BD9-81ED-4DB2-BD59-A6C34878D82A}">
                    <a16:rowId xmlns:a16="http://schemas.microsoft.com/office/drawing/2014/main" val="1353128535"/>
                  </a:ext>
                </a:extLst>
              </a:tr>
              <a:tr h="949270">
                <a:tc>
                  <a:txBody>
                    <a:bodyPr/>
                    <a:lstStyle/>
                    <a:p>
                      <a:r>
                        <a:rPr lang="ru-RU" sz="1600" dirty="0"/>
                        <a:t>Отображение списка аудиторий</a:t>
                      </a:r>
                    </a:p>
                  </a:txBody>
                  <a:tcPr/>
                </a:tc>
                <a:tc>
                  <a:txBody>
                    <a:bodyPr/>
                    <a:lstStyle/>
                    <a:p>
                      <a:pPr algn="l"/>
                      <a:r>
                        <a:rPr lang="ru-RU" sz="1600" dirty="0"/>
                        <a:t>Список всех доступных аудиторий с их статусами</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ru-RU" sz="1600" dirty="0"/>
                        <a:t>Список успешно загружен, статусы аудиторий корректно отображаются</a:t>
                      </a:r>
                    </a:p>
                    <a:p>
                      <a:endParaRPr lang="ru-RU" sz="1600" dirty="0"/>
                    </a:p>
                  </a:txBody>
                  <a:tcPr anchor="ctr"/>
                </a:tc>
                <a:extLst>
                  <a:ext uri="{0D108BD9-81ED-4DB2-BD59-A6C34878D82A}">
                    <a16:rowId xmlns:a16="http://schemas.microsoft.com/office/drawing/2014/main" val="4012929800"/>
                  </a:ext>
                </a:extLst>
              </a:tr>
              <a:tr h="496523">
                <a:tc>
                  <a:txBody>
                    <a:bodyPr/>
                    <a:lstStyle/>
                    <a:p>
                      <a:r>
                        <a:rPr lang="ru-RU" sz="1600" dirty="0"/>
                        <a:t>Бронирование аудитории</a:t>
                      </a:r>
                    </a:p>
                  </a:txBody>
                  <a:tcPr anchor="ctr"/>
                </a:tc>
                <a:tc>
                  <a:txBody>
                    <a:bodyPr/>
                    <a:lstStyle/>
                    <a:p>
                      <a:r>
                        <a:rPr lang="ru-RU" sz="1600" dirty="0"/>
                        <a:t>Возможность выбрать свободную аудиторию и забронировать её</a:t>
                      </a:r>
                    </a:p>
                  </a:txBody>
                  <a:tcPr anchor="ctr"/>
                </a:tc>
                <a:tc>
                  <a:txBody>
                    <a:bodyPr/>
                    <a:lstStyle/>
                    <a:p>
                      <a:r>
                        <a:rPr lang="ru-RU" sz="1600" dirty="0"/>
                        <a:t>Бронирование работает корректно, статус аудитории обновляется автоматически</a:t>
                      </a:r>
                    </a:p>
                  </a:txBody>
                  <a:tcPr anchor="ctr"/>
                </a:tc>
                <a:extLst>
                  <a:ext uri="{0D108BD9-81ED-4DB2-BD59-A6C34878D82A}">
                    <a16:rowId xmlns:a16="http://schemas.microsoft.com/office/drawing/2014/main" val="1556870811"/>
                  </a:ext>
                </a:extLst>
              </a:tr>
              <a:tr h="496523">
                <a:tc>
                  <a:txBody>
                    <a:bodyPr/>
                    <a:lstStyle/>
                    <a:p>
                      <a:r>
                        <a:rPr lang="ru-RU" sz="1600" dirty="0"/>
                        <a:t>Освобождение аудитории</a:t>
                      </a:r>
                    </a:p>
                  </a:txBody>
                  <a:tcPr anchor="ctr"/>
                </a:tc>
                <a:tc>
                  <a:txBody>
                    <a:bodyPr/>
                    <a:lstStyle/>
                    <a:p>
                      <a:r>
                        <a:rPr lang="ru-RU" sz="1600" dirty="0"/>
                        <a:t>Возможность освободить занятую аудиторию вручную</a:t>
                      </a:r>
                    </a:p>
                  </a:txBody>
                  <a:tcPr anchor="ctr"/>
                </a:tc>
                <a:tc>
                  <a:txBody>
                    <a:bodyPr/>
                    <a:lstStyle/>
                    <a:p>
                      <a:r>
                        <a:rPr lang="ru-RU" sz="1600" dirty="0"/>
                        <a:t>Освобождение работает, статус изменяется в реальном времени</a:t>
                      </a:r>
                    </a:p>
                  </a:txBody>
                  <a:tcPr anchor="ctr"/>
                </a:tc>
                <a:extLst>
                  <a:ext uri="{0D108BD9-81ED-4DB2-BD59-A6C34878D82A}">
                    <a16:rowId xmlns:a16="http://schemas.microsoft.com/office/drawing/2014/main" val="1609707808"/>
                  </a:ext>
                </a:extLst>
              </a:tr>
              <a:tr h="496523">
                <a:tc>
                  <a:txBody>
                    <a:bodyPr/>
                    <a:lstStyle/>
                    <a:p>
                      <a:r>
                        <a:rPr lang="ru-RU" sz="1600" dirty="0"/>
                        <a:t>Отправка </a:t>
                      </a:r>
                      <a:r>
                        <a:rPr lang="en-US" sz="1600" dirty="0"/>
                        <a:t>push-</a:t>
                      </a:r>
                      <a:r>
                        <a:rPr lang="ru-RU" sz="1600" dirty="0"/>
                        <a:t>уведомлений</a:t>
                      </a:r>
                    </a:p>
                  </a:txBody>
                  <a:tcPr anchor="ctr"/>
                </a:tc>
                <a:tc>
                  <a:txBody>
                    <a:bodyPr/>
                    <a:lstStyle/>
                    <a:p>
                      <a:r>
                        <a:rPr lang="ru-RU" sz="1600" dirty="0"/>
                        <a:t>Уведомления о бронировании и освобождении аудиторий</a:t>
                      </a:r>
                    </a:p>
                  </a:txBody>
                  <a:tcPr anchor="ctr"/>
                </a:tc>
                <a:tc>
                  <a:txBody>
                    <a:bodyPr/>
                    <a:lstStyle/>
                    <a:p>
                      <a:r>
                        <a:rPr lang="ru-RU" sz="1600" dirty="0"/>
                        <a:t>В разработке</a:t>
                      </a:r>
                    </a:p>
                  </a:txBody>
                  <a:tcPr anchor="ctr"/>
                </a:tc>
                <a:extLst>
                  <a:ext uri="{0D108BD9-81ED-4DB2-BD59-A6C34878D82A}">
                    <a16:rowId xmlns:a16="http://schemas.microsoft.com/office/drawing/2014/main" val="4228292064"/>
                  </a:ext>
                </a:extLst>
              </a:tr>
              <a:tr h="496523">
                <a:tc>
                  <a:txBody>
                    <a:bodyPr/>
                    <a:lstStyle/>
                    <a:p>
                      <a:r>
                        <a:rPr lang="ru-RU" sz="1600" dirty="0"/>
                        <a:t>Синхронизация с базой данных</a:t>
                      </a:r>
                    </a:p>
                  </a:txBody>
                  <a:tcPr anchor="ctr"/>
                </a:tc>
                <a:tc>
                  <a:txBody>
                    <a:bodyPr/>
                    <a:lstStyle/>
                    <a:p>
                      <a:r>
                        <a:rPr lang="ru-RU" sz="1600" dirty="0"/>
                        <a:t>Данные о бронированиях обновляются в реальном времени</a:t>
                      </a:r>
                    </a:p>
                  </a:txBody>
                  <a:tcPr anchor="ctr"/>
                </a:tc>
                <a:tc>
                  <a:txBody>
                    <a:bodyPr/>
                    <a:lstStyle/>
                    <a:p>
                      <a:r>
                        <a:rPr lang="ru-RU" sz="1600" dirty="0"/>
                        <a:t>Синхронизация стабильная, задержек нет</a:t>
                      </a:r>
                    </a:p>
                  </a:txBody>
                  <a:tcPr anchor="ctr"/>
                </a:tc>
                <a:extLst>
                  <a:ext uri="{0D108BD9-81ED-4DB2-BD59-A6C34878D82A}">
                    <a16:rowId xmlns:a16="http://schemas.microsoft.com/office/drawing/2014/main" val="782796254"/>
                  </a:ext>
                </a:extLst>
              </a:tr>
              <a:tr h="496523">
                <a:tc>
                  <a:txBody>
                    <a:bodyPr/>
                    <a:lstStyle/>
                    <a:p>
                      <a:r>
                        <a:rPr lang="ru-RU" sz="1600" dirty="0"/>
                        <a:t>Отчет по истории использования</a:t>
                      </a:r>
                    </a:p>
                  </a:txBody>
                  <a:tcPr anchor="ctr"/>
                </a:tc>
                <a:tc>
                  <a:txBody>
                    <a:bodyPr/>
                    <a:lstStyle/>
                    <a:p>
                      <a:r>
                        <a:rPr lang="ru-RU" sz="1600" dirty="0"/>
                        <a:t>Формирование отчета о занятости аудиторий</a:t>
                      </a:r>
                    </a:p>
                  </a:txBody>
                  <a:tcPr anchor="ctr"/>
                </a:tc>
                <a:tc>
                  <a:txBody>
                    <a:bodyPr/>
                    <a:lstStyle/>
                    <a:p>
                      <a:r>
                        <a:rPr lang="ru-RU" sz="1600" dirty="0"/>
                        <a:t>Отчет генерируется, данные соответствуют истории использования</a:t>
                      </a:r>
                    </a:p>
                  </a:txBody>
                  <a:tcPr anchor="ctr"/>
                </a:tc>
                <a:extLst>
                  <a:ext uri="{0D108BD9-81ED-4DB2-BD59-A6C34878D82A}">
                    <a16:rowId xmlns:a16="http://schemas.microsoft.com/office/drawing/2014/main" val="941279924"/>
                  </a:ext>
                </a:extLst>
              </a:tr>
            </a:tbl>
          </a:graphicData>
        </a:graphic>
      </p:graphicFrame>
      <p:sp>
        <p:nvSpPr>
          <p:cNvPr id="5" name="TextBox 4">
            <a:extLst>
              <a:ext uri="{FF2B5EF4-FFF2-40B4-BE49-F238E27FC236}">
                <a16:creationId xmlns:a16="http://schemas.microsoft.com/office/drawing/2014/main" id="{F82ED1C3-19BE-2CC8-22F3-453AA9A56D6A}"/>
              </a:ext>
            </a:extLst>
          </p:cNvPr>
          <p:cNvSpPr txBox="1"/>
          <p:nvPr/>
        </p:nvSpPr>
        <p:spPr bwMode="auto">
          <a:xfrm>
            <a:off x="11684000" y="6391475"/>
            <a:ext cx="843280" cy="369332"/>
          </a:xfrm>
          <a:prstGeom prst="rect">
            <a:avLst/>
          </a:prstGeom>
        </p:spPr>
        <p:txBody>
          <a:bodyPr wrap="square" rtlCol="0">
            <a:spAutoFit/>
          </a:bodyPr>
          <a:lstStyle/>
          <a:p>
            <a:r>
              <a:rPr lang="ru-RU" dirty="0"/>
              <a:t>11</a:t>
            </a:r>
          </a:p>
        </p:txBody>
      </p:sp>
      <p:sp>
        <p:nvSpPr>
          <p:cNvPr id="11" name="Прямоугольник 10">
            <a:extLst>
              <a:ext uri="{FF2B5EF4-FFF2-40B4-BE49-F238E27FC236}">
                <a16:creationId xmlns:a16="http://schemas.microsoft.com/office/drawing/2014/main" id="{EA87D65B-12C4-BD56-1734-62499C36FB12}"/>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a:extLst>
              <a:ext uri="{FF2B5EF4-FFF2-40B4-BE49-F238E27FC236}">
                <a16:creationId xmlns:a16="http://schemas.microsoft.com/office/drawing/2014/main" id="{FE68F491-A6F4-96C0-9D75-3BD4C3D50AA1}"/>
              </a:ext>
            </a:extLst>
          </p:cNvPr>
          <p:cNvPicPr>
            <a:picLocks noChangeAspect="1"/>
          </p:cNvPicPr>
          <p:nvPr/>
        </p:nvPicPr>
        <p:blipFill>
          <a:blip r:embed="rId3">
            <a:extLst>
              <a:ext uri="{28A0092B-C50C-407E-A947-70E740481C1C}">
                <a14:useLocalDpi xmlns:a14="http://schemas.microsoft.com/office/drawing/2010/main" val="0"/>
              </a:ext>
            </a:extLst>
          </a:blip>
          <a:srcRect t="40425" b="-40425"/>
          <a:stretch>
            <a:fillRect/>
          </a:stretch>
        </p:blipFill>
        <p:spPr>
          <a:xfrm>
            <a:off x="-4763" y="1817914"/>
            <a:ext cx="12192000" cy="6858000"/>
          </a:xfrm>
          <a:prstGeom prst="rect">
            <a:avLst/>
          </a:prstGeom>
        </p:spPr>
      </p:pic>
      <p:sp>
        <p:nvSpPr>
          <p:cNvPr id="12" name="TextBox 11">
            <a:extLst>
              <a:ext uri="{FF2B5EF4-FFF2-40B4-BE49-F238E27FC236}">
                <a16:creationId xmlns:a16="http://schemas.microsoft.com/office/drawing/2014/main" id="{DA0505D1-4C85-2697-5EC4-977FC28A28D8}"/>
              </a:ext>
            </a:extLst>
          </p:cNvPr>
          <p:cNvSpPr txBox="1"/>
          <p:nvPr/>
        </p:nvSpPr>
        <p:spPr bwMode="auto">
          <a:xfrm>
            <a:off x="289850" y="990342"/>
            <a:ext cx="10787122" cy="707886"/>
          </a:xfrm>
          <a:prstGeom prst="rect">
            <a:avLst/>
          </a:prstGeom>
        </p:spPr>
        <p:txBody>
          <a:bodyPr wrap="square" rtlCol="0">
            <a:spAutoFit/>
          </a:bodyPr>
          <a:lstStyle/>
          <a:p>
            <a:r>
              <a:rPr lang="ru-RU" sz="4000" b="1" dirty="0"/>
              <a:t>Тестирование и оценка результатов</a:t>
            </a:r>
          </a:p>
        </p:txBody>
      </p:sp>
      <p:sp>
        <p:nvSpPr>
          <p:cNvPr id="13" name="TextBox 12">
            <a:extLst>
              <a:ext uri="{FF2B5EF4-FFF2-40B4-BE49-F238E27FC236}">
                <a16:creationId xmlns:a16="http://schemas.microsoft.com/office/drawing/2014/main" id="{8A474940-F5FE-319B-9454-00F99E2D5662}"/>
              </a:ext>
            </a:extLst>
          </p:cNvPr>
          <p:cNvSpPr txBox="1"/>
          <p:nvPr/>
        </p:nvSpPr>
        <p:spPr bwMode="auto">
          <a:xfrm>
            <a:off x="11709397" y="6405855"/>
            <a:ext cx="843280" cy="369332"/>
          </a:xfrm>
          <a:prstGeom prst="rect">
            <a:avLst/>
          </a:prstGeom>
        </p:spPr>
        <p:txBody>
          <a:bodyPr wrap="square" rtlCol="0">
            <a:spAutoFit/>
          </a:bodyPr>
          <a:lstStyle/>
          <a:p>
            <a:r>
              <a:rPr lang="ru-RU" dirty="0"/>
              <a:t>13</a:t>
            </a:r>
          </a:p>
        </p:txBody>
      </p:sp>
      <p:pic>
        <p:nvPicPr>
          <p:cNvPr id="15" name="Рисунок 14">
            <a:extLst>
              <a:ext uri="{FF2B5EF4-FFF2-40B4-BE49-F238E27FC236}">
                <a16:creationId xmlns:a16="http://schemas.microsoft.com/office/drawing/2014/main" id="{374FF93C-F754-409E-4F57-3429B84DD7F8}"/>
              </a:ext>
            </a:extLst>
          </p:cNvPr>
          <p:cNvPicPr>
            <a:picLocks noChangeAspect="1"/>
          </p:cNvPicPr>
          <p:nvPr/>
        </p:nvPicPr>
        <p:blipFill>
          <a:blip r:embed="rId4"/>
          <a:stretch>
            <a:fillRect/>
          </a:stretch>
        </p:blipFill>
        <p:spPr>
          <a:xfrm>
            <a:off x="9771576" y="3001076"/>
            <a:ext cx="1991003" cy="590632"/>
          </a:xfrm>
          <a:prstGeom prst="rect">
            <a:avLst/>
          </a:prstGeom>
        </p:spPr>
      </p:pic>
      <p:pic>
        <p:nvPicPr>
          <p:cNvPr id="17" name="Рисунок 16">
            <a:extLst>
              <a:ext uri="{FF2B5EF4-FFF2-40B4-BE49-F238E27FC236}">
                <a16:creationId xmlns:a16="http://schemas.microsoft.com/office/drawing/2014/main" id="{36E4344E-103B-6AFF-F1D4-E296770FDC15}"/>
              </a:ext>
            </a:extLst>
          </p:cNvPr>
          <p:cNvPicPr>
            <a:picLocks noChangeAspect="1"/>
          </p:cNvPicPr>
          <p:nvPr/>
        </p:nvPicPr>
        <p:blipFill>
          <a:blip r:embed="rId5"/>
          <a:stretch>
            <a:fillRect/>
          </a:stretch>
        </p:blipFill>
        <p:spPr>
          <a:xfrm>
            <a:off x="5215163" y="3368040"/>
            <a:ext cx="1833485" cy="345440"/>
          </a:xfrm>
          <a:prstGeom prst="rect">
            <a:avLst/>
          </a:prstGeom>
        </p:spPr>
      </p:pic>
    </p:spTree>
    <p:extLst>
      <p:ext uri="{BB962C8B-B14F-4D97-AF65-F5344CB8AC3E}">
        <p14:creationId xmlns:p14="http://schemas.microsoft.com/office/powerpoint/2010/main" val="4022446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id="{8CF80527-CD01-CAE1-E4FF-3D3C40E46258}"/>
              </a:ext>
            </a:extLst>
          </p:cNvPr>
          <p:cNvSpPr/>
          <p:nvPr/>
        </p:nvSpPr>
        <p:spPr>
          <a:xfrm>
            <a:off x="0" y="594112"/>
            <a:ext cx="12182475" cy="6244774"/>
          </a:xfrm>
          <a:prstGeom prst="rect">
            <a:avLst/>
          </a:prstGeom>
          <a:solidFill>
            <a:srgbClr val="FEFF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Текст 2">
            <a:extLst>
              <a:ext uri="{FF2B5EF4-FFF2-40B4-BE49-F238E27FC236}">
                <a16:creationId xmlns:a16="http://schemas.microsoft.com/office/drawing/2014/main" id="{F86FE171-B24B-68B2-3194-BCFCC0C7A8CE}"/>
              </a:ext>
            </a:extLst>
          </p:cNvPr>
          <p:cNvSpPr>
            <a:spLocks noGrp="1"/>
          </p:cNvSpPr>
          <p:nvPr>
            <p:ph type="body" sz="quarter" idx="19"/>
          </p:nvPr>
        </p:nvSpPr>
        <p:spPr/>
        <p:txBody>
          <a:bodyPr/>
          <a:lstStyle/>
          <a:p>
            <a:endParaRPr lang="ru-RU"/>
          </a:p>
        </p:txBody>
      </p:sp>
      <p:sp>
        <p:nvSpPr>
          <p:cNvPr id="7" name="TextBox 6">
            <a:extLst>
              <a:ext uri="{FF2B5EF4-FFF2-40B4-BE49-F238E27FC236}">
                <a16:creationId xmlns:a16="http://schemas.microsoft.com/office/drawing/2014/main" id="{1C1553B3-3948-01AA-3FBE-BFBA6A9D25CF}"/>
              </a:ext>
            </a:extLst>
          </p:cNvPr>
          <p:cNvSpPr txBox="1"/>
          <p:nvPr/>
        </p:nvSpPr>
        <p:spPr bwMode="auto">
          <a:xfrm>
            <a:off x="11684000" y="6391475"/>
            <a:ext cx="843280" cy="369332"/>
          </a:xfrm>
          <a:prstGeom prst="rect">
            <a:avLst/>
          </a:prstGeom>
        </p:spPr>
        <p:txBody>
          <a:bodyPr wrap="square" rtlCol="0">
            <a:spAutoFit/>
          </a:bodyPr>
          <a:lstStyle/>
          <a:p>
            <a:r>
              <a:rPr lang="ru-RU" dirty="0"/>
              <a:t>14</a:t>
            </a:r>
          </a:p>
        </p:txBody>
      </p:sp>
      <p:pic>
        <p:nvPicPr>
          <p:cNvPr id="9" name="Рисунок 8">
            <a:extLst>
              <a:ext uri="{FF2B5EF4-FFF2-40B4-BE49-F238E27FC236}">
                <a16:creationId xmlns:a16="http://schemas.microsoft.com/office/drawing/2014/main" id="{1F6E8D0C-8484-C1D1-E97E-A0BF2468C950}"/>
              </a:ext>
            </a:extLst>
          </p:cNvPr>
          <p:cNvPicPr>
            <a:picLocks noChangeAspect="1"/>
          </p:cNvPicPr>
          <p:nvPr/>
        </p:nvPicPr>
        <p:blipFill>
          <a:blip r:embed="rId2"/>
          <a:stretch>
            <a:fillRect/>
          </a:stretch>
        </p:blipFill>
        <p:spPr>
          <a:xfrm>
            <a:off x="6478" y="1069019"/>
            <a:ext cx="12185522" cy="4719962"/>
          </a:xfrm>
          <a:prstGeom prst="rect">
            <a:avLst/>
          </a:prstGeom>
        </p:spPr>
      </p:pic>
    </p:spTree>
    <p:extLst>
      <p:ext uri="{BB962C8B-B14F-4D97-AF65-F5344CB8AC3E}">
        <p14:creationId xmlns:p14="http://schemas.microsoft.com/office/powerpoint/2010/main" val="3582791029"/>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1238</TotalTime>
  <Words>353</Words>
  <Application>Microsoft Office PowerPoint</Application>
  <DocSecurity>0</DocSecurity>
  <PresentationFormat>Широкоэкранный</PresentationFormat>
  <Paragraphs>75</Paragraphs>
  <Slides>13</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Montserrat</vt:lpstr>
      <vt:lpstr>Aptos</vt:lpstr>
      <vt:lpstr>Arial</vt:lpstr>
      <vt:lpstr>Montserrat SemiBold</vt:lpstr>
      <vt:lpstr>Тема Office</vt:lpstr>
      <vt:lpstr>Цель выпускной работы</vt:lpstr>
      <vt:lpstr>Презентация PowerPoint</vt:lpstr>
      <vt:lpstr>Презентация PowerPoint</vt:lpstr>
      <vt:lpstr>Презентация PowerPoint</vt:lpstr>
      <vt:lpstr>Автоматизируемые бизнес-процессы</vt:lpstr>
      <vt:lpstr>Презентация PowerPoint</vt:lpstr>
      <vt:lpstr>Дата-логическая модель</vt:lpstr>
      <vt:lpstr>Демонстрация реализованного прикладного решения</vt:lpstr>
      <vt:lpstr>Презентация PowerPoint</vt:lpstr>
      <vt:lpstr>Презентация PowerPoint</vt:lpstr>
      <vt:lpstr>Презентация PowerPoint</vt:lpstr>
      <vt:lpstr>Карта тестирования</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Алексей Сокорев</cp:lastModifiedBy>
  <cp:revision>31</cp:revision>
  <dcterms:created xsi:type="dcterms:W3CDTF">2023-04-19T21:39:12Z</dcterms:created>
  <dcterms:modified xsi:type="dcterms:W3CDTF">2026-06-05T11:57:22Z</dcterms:modified>
  <cp:category/>
  <dc:identifier/>
  <cp:contentStatus/>
  <dc:language/>
  <cp:version/>
</cp:coreProperties>
</file>